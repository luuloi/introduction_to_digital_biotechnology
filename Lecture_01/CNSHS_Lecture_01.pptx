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21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18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7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9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5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5" r:id="rId3"/>
    <p:sldMasterId id="2147483667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6.xml"/><Relationship Id="rId4" Type="http://schemas.openxmlformats.org/officeDocument/2006/relationships/slideMaster" Target="slideMasters/slideMaster17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67698AF-67F7-43D1-9A59-1329C9688C1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3800" cy="285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k to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edit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Mast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er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title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3800" cy="149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BE2EDD5-AD93-4BF0-883A-64244974DA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968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968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55EFAC0-147C-4C51-A4FE-494F42537D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592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5920" cy="368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148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1480" cy="368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7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8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F7F0CCE-5A27-4600-A729-0AEEC462DD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9BEF479-AFA1-4831-AA64-16C838A11DB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AF84CA6-560C-4BE8-BCA1-BCF60D1913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480" cy="159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400" cy="487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480" cy="380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FBB80DE-9A7B-4BFA-956A-EB0DB26A36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480" cy="159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400" cy="4871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480" cy="380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7A2FAFE-8ECC-4FF7-997A-64946CD182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00D063B-874B-4D6A-ABE0-0E9F648495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4175966-A9D2-43B8-934F-40C6926B5D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240BA83-4FE1-4AD8-94D0-1840BD03C6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5AC3CBF-55A7-46BD-9A8C-94F026EF34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dt" idx="40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ftr" idx="4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49FF9F4-000C-46CF-873B-B6F52D9250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2CD82FF-471A-4C33-86D2-49B4189E1A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dt" idx="4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ftr" idx="4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CD85641-78E8-47B6-A26F-94CE52ED2C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7280" cy="581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2440" cy="581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dt" idx="4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ftr" idx="4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B4148B8-EE95-41DB-8735-B2CEA51943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9"/>
          </p:nvPr>
        </p:nvSpPr>
        <p:spPr/>
        <p:txBody>
          <a:bodyPr/>
          <a:p>
            <a:fld id="{B606EDC4-0462-458B-AAAF-F4C12A7ADBBB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dt" idx="5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ftr" idx="5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sldNum" idx="5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60EF237-5630-44B5-99F9-FFBE0E1B649E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dt" idx="5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ftr" idx="5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5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6A4212C-B377-4C8D-BE24-E26A7DF71333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7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523880" y="2013480"/>
            <a:ext cx="9142200" cy="60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49"/>
          </p:nvPr>
        </p:nvSpPr>
        <p:spPr>
          <a:xfrm>
            <a:off x="11296440" y="6217560"/>
            <a:ext cx="729720" cy="52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vi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7A7B261-9062-49BD-8E18-89615B30D500}" type="slidenum">
              <a:rPr lang="vi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 Light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  <p:sldLayoutId id="214748366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1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https://www.youtube.com/watch?v=KTstRrDTmWI" TargetMode="External"/><Relationship Id="rId2" Type="http://schemas.openxmlformats.org/officeDocument/2006/relationships/hyperlink" Target="https://www.youtube.com/watch?v=X9566yI2cBo" TargetMode="External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image" Target="../media/image20.jpe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1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1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png"/><Relationship Id="rId3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jpeg"/><Relationship Id="rId5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hyperlink" Target="mailto:luu.p.loi@googlemail.com" TargetMode="Externa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4"/>
          <p:cNvSpPr/>
          <p:nvPr/>
        </p:nvSpPr>
        <p:spPr>
          <a:xfrm>
            <a:off x="1219320" y="1770120"/>
            <a:ext cx="995328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000" b="1" u="none" spc="-48" strike="noStrike">
                <a:solidFill>
                  <a:srgbClr val="000000"/>
                </a:solidFill>
                <a:effectLst/>
                <a:uFillTx/>
                <a:latin typeface="Arial"/>
                <a:ea typeface="Montserrat"/>
              </a:rPr>
              <a:t>Bài 01: Giới thiệu</a:t>
            </a:r>
            <a:r>
              <a:rPr lang="en-US" sz="4000" b="1" u="none" spc="-48" strike="noStrike">
                <a:solidFill>
                  <a:srgbClr val="0070C0"/>
                </a:solidFill>
                <a:effectLst/>
                <a:uFillTx/>
                <a:latin typeface="Arial"/>
                <a:ea typeface="Montserrat"/>
              </a:rPr>
              <a:t> 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4000" b="1" u="none" spc="-48" strike="noStrike">
                <a:solidFill>
                  <a:srgbClr val="0070C0"/>
                </a:solidFill>
                <a:effectLst/>
                <a:uFillTx/>
                <a:latin typeface="Arial"/>
                <a:ea typeface="Montserrat"/>
              </a:rPr>
              <a:t>Nhập Môn Ngành Công Nghệ Sinh Học Số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55;p13"/>
          <p:cNvSpPr/>
          <p:nvPr/>
        </p:nvSpPr>
        <p:spPr>
          <a:xfrm>
            <a:off x="1136160" y="4043160"/>
            <a:ext cx="10005840" cy="21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0840" tIns="60840" rIns="60840" bIns="60840" anchor="ctr">
            <a:noAutofit/>
          </a:bodyPr>
          <a:p>
            <a:pPr algn="ctr" defTabSz="914400">
              <a:lnSpc>
                <a:spcPct val="140000"/>
              </a:lnSpc>
              <a:tabLst>
                <a:tab pos="0" algn="l"/>
              </a:tabLst>
            </a:pPr>
            <a:r>
              <a:rPr lang="fr-FR" sz="187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14.09.2026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40000"/>
              </a:lnSpc>
              <a:tabLst>
                <a:tab pos="0" algn="l"/>
              </a:tabLst>
            </a:pPr>
            <a:r>
              <a:rPr lang="fr-FR" sz="187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TS. Lưu Phúc Lợi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40000"/>
              </a:lnSpc>
              <a:tabLst>
                <a:tab pos="0" algn="l"/>
              </a:tabLst>
            </a:pPr>
            <a:r>
              <a:rPr lang="fr-FR" sz="187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Email: loilp@bvtn.org.vn</a:t>
            </a:r>
            <a:br>
              <a:rPr sz="1870"/>
            </a:br>
            <a:r>
              <a:rPr lang="fr-FR" sz="187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Zalo: 0901802182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40000"/>
              </a:lnSpc>
              <a:tabLst>
                <a:tab pos="0" algn="l"/>
              </a:tabLst>
            </a:pPr>
            <a:r>
              <a:rPr lang="fr-FR" sz="187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Viện Nghiên cứu Ứng dụng Khoa học Sức khỏe và Lão hóa – Bệnh viện Thống Nhất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59;p13" title="Profile.jpg"/>
          <p:cNvSpPr/>
          <p:nvPr/>
        </p:nvSpPr>
        <p:spPr>
          <a:xfrm>
            <a:off x="8628840" y="3422520"/>
            <a:ext cx="1914840" cy="193392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"/>
          <p:cNvPicPr/>
          <p:nvPr/>
        </p:nvPicPr>
        <p:blipFill>
          <a:blip r:embed="rId2"/>
          <a:stretch/>
        </p:blipFill>
        <p:spPr>
          <a:xfrm>
            <a:off x="228600" y="120600"/>
            <a:ext cx="1370160" cy="137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"/>
          <p:cNvPicPr/>
          <p:nvPr/>
        </p:nvPicPr>
        <p:blipFill>
          <a:blip r:embed="rId3"/>
          <a:srcRect l="17515" t="16570" r="19148" b="16760"/>
          <a:stretch/>
        </p:blipFill>
        <p:spPr>
          <a:xfrm>
            <a:off x="10395000" y="85680"/>
            <a:ext cx="1598760" cy="168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7"/>
          <p:cNvSpPr/>
          <p:nvPr/>
        </p:nvSpPr>
        <p:spPr>
          <a:xfrm>
            <a:off x="1219320" y="2346120"/>
            <a:ext cx="995328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000" b="1" u="none" spc="-48" strike="noStrike">
                <a:solidFill>
                  <a:srgbClr val="000000"/>
                </a:solidFill>
                <a:effectLst/>
                <a:uFillTx/>
                <a:latin typeface="Arial"/>
                <a:ea typeface="Montserrat"/>
              </a:rPr>
              <a:t>Trân trọng chào đón các Tân Sinh Viên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4000" b="1" u="none" spc="-48" strike="noStrike">
                <a:solidFill>
                  <a:srgbClr val="0070C0"/>
                </a:solidFill>
                <a:effectLst/>
                <a:uFillTx/>
                <a:latin typeface="Arial"/>
                <a:ea typeface="Montserrat"/>
              </a:rPr>
              <a:t>Ngành Công Nghệ Sinh Học 2026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"/>
          <p:cNvPicPr/>
          <p:nvPr/>
        </p:nvPicPr>
        <p:blipFill>
          <a:blip r:embed="rId1"/>
          <a:stretch/>
        </p:blipFill>
        <p:spPr>
          <a:xfrm>
            <a:off x="228600" y="120600"/>
            <a:ext cx="1370160" cy="137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"/>
          <p:cNvPicPr/>
          <p:nvPr/>
        </p:nvPicPr>
        <p:blipFill>
          <a:blip r:embed="rId2"/>
          <a:srcRect l="17515" t="16570" r="19148" b="16760"/>
          <a:stretch/>
        </p:blipFill>
        <p:spPr>
          <a:xfrm>
            <a:off x="10395000" y="85680"/>
            <a:ext cx="1598760" cy="168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"/>
          <p:cNvSpPr/>
          <p:nvPr/>
        </p:nvSpPr>
        <p:spPr>
          <a:xfrm>
            <a:off x="957960" y="203040"/>
            <a:ext cx="1034676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Nội dung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Content Placeholder 2"/>
          <p:cNvSpPr/>
          <p:nvPr/>
        </p:nvSpPr>
        <p:spPr>
          <a:xfrm>
            <a:off x="544320" y="1265760"/>
            <a:ext cx="10760760" cy="456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971640" lvl="1" indent="-514440" algn="just" defTabSz="914400">
              <a:lnSpc>
                <a:spcPct val="120000"/>
              </a:lnSpc>
              <a:spcBef>
                <a:spcPts val="499"/>
              </a:spcBef>
              <a:buClr>
                <a:srgbClr val="0070C0"/>
              </a:buClr>
              <a:buFont typeface="Calibri Light"/>
              <a:buAutoNum type="arabicPeriod"/>
            </a:pPr>
            <a:r>
              <a:rPr lang="en-GB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Giới thiệu d</a:t>
            </a:r>
            <a:r>
              <a:rPr lang="vi-VN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ự án </a:t>
            </a:r>
            <a:r>
              <a:rPr lang="vi-VN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BỘ GEN NGƯỜI</a:t>
            </a:r>
            <a:r>
              <a:rPr lang="vi-VN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 &amp; </a:t>
            </a:r>
            <a:r>
              <a:rPr lang="vi-VN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GIẢI TRÌNH TỰ GEN THẾ HỆ MỚI</a:t>
            </a:r>
            <a:r>
              <a:rPr lang="en-GB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 (NGS)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71640" lvl="1" indent="-514440" algn="just" defTabSz="914400">
              <a:lnSpc>
                <a:spcPct val="120000"/>
              </a:lnSpc>
              <a:spcBef>
                <a:spcPts val="499"/>
              </a:spcBef>
              <a:buClr>
                <a:srgbClr val="0070C0"/>
              </a:buClr>
              <a:buFont typeface="Calibri Light"/>
              <a:buAutoNum type="arabicPeriod"/>
            </a:pP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Ví dụ mối quan hệ của </a:t>
            </a:r>
            <a:r>
              <a:rPr lang="en-US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BIẾN THỂ GEN</a:t>
            </a: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 và </a:t>
            </a:r>
            <a:r>
              <a:rPr lang="en-US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BỆNH DI TRUYỀN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71640" lvl="1" indent="-514440" algn="just" defTabSz="914400">
              <a:lnSpc>
                <a:spcPct val="120000"/>
              </a:lnSpc>
              <a:spcBef>
                <a:spcPts val="499"/>
              </a:spcBef>
              <a:buClr>
                <a:srgbClr val="0070C0"/>
              </a:buClr>
              <a:buFont typeface="Calibri Light"/>
              <a:buAutoNum type="arabicPeriod"/>
            </a:pP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Quy trình </a:t>
            </a:r>
            <a:r>
              <a:rPr lang="vi-VN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XÉT NGHIỆM </a:t>
            </a: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gen bằng phương pháp giải trình tự thế hệ mới (NGS)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71640" lvl="1" indent="-514440" algn="just" defTabSz="914400">
              <a:lnSpc>
                <a:spcPct val="120000"/>
              </a:lnSpc>
              <a:spcBef>
                <a:spcPts val="499"/>
              </a:spcBef>
              <a:buClr>
                <a:srgbClr val="0070C0"/>
              </a:buClr>
              <a:buFont typeface="Calibri Light"/>
              <a:buAutoNum type="arabicPeriod"/>
            </a:pP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Năm ví dụ về </a:t>
            </a:r>
            <a:r>
              <a:rPr lang="vi-VN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XÉT NGHIỆM </a:t>
            </a: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gen cho </a:t>
            </a:r>
            <a:r>
              <a:rPr lang="vi-VN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BỆNH </a:t>
            </a:r>
            <a:r>
              <a:rPr lang="en-US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DI TRUYỀN </a:t>
            </a: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và</a:t>
            </a:r>
            <a:r>
              <a:rPr lang="en-US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 </a:t>
            </a:r>
            <a:r>
              <a:rPr lang="vi-VN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UNG </a:t>
            </a:r>
            <a:r>
              <a:rPr lang="en-US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THƯ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71640" lvl="1" indent="-514440" algn="just" defTabSz="914400">
              <a:lnSpc>
                <a:spcPct val="120000"/>
              </a:lnSpc>
              <a:spcBef>
                <a:spcPts val="499"/>
              </a:spcBef>
              <a:buClr>
                <a:srgbClr val="0070C0"/>
              </a:buClr>
              <a:buFont typeface="Calibri Light"/>
              <a:buAutoNum type="arabicPeriod"/>
            </a:pP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Xét nghiệm gen trong bệnh nhiễm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71640" lvl="1" indent="-514440" algn="just" defTabSz="914400">
              <a:lnSpc>
                <a:spcPct val="120000"/>
              </a:lnSpc>
              <a:spcBef>
                <a:spcPts val="499"/>
              </a:spcBef>
              <a:buClr>
                <a:srgbClr val="0070C0"/>
              </a:buClr>
              <a:buFont typeface="Calibri Light"/>
              <a:buAutoNum type="arabicPeriod"/>
            </a:pP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Ứng dụng AI trong phân tích dữ liệu hình ảnh y khoa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523880" y="380880"/>
            <a:ext cx="9142200" cy="83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Xin gởi lời cảm ơn trân thành đến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ubTitle"/>
          </p:nvPr>
        </p:nvSpPr>
        <p:spPr>
          <a:xfrm>
            <a:off x="934920" y="1708200"/>
            <a:ext cx="9142200" cy="456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Đại học Đồng Tháp - Khoa Công Nghệ và Kỹ Thuật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algn="l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TS. Lê Uyển Thanh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algn="l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TS. Huỳnh Ngọc Tâm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algn="l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TS. Trần Đức Tường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ontent Placeholder 2"/>
          <p:cNvSpPr/>
          <p:nvPr/>
        </p:nvSpPr>
        <p:spPr>
          <a:xfrm>
            <a:off x="387720" y="1471680"/>
            <a:ext cx="11101680" cy="35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60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Giới thiệu 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GB" sz="6000" b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DỰ ÁN BỘ GEN NGƯỜI 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GB" sz="6000" b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&amp; </a:t>
            </a:r>
            <a:r>
              <a:rPr lang="vi-VN" sz="6000" b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GIẢI TRÌNH TỰ GEN THẾ HỆ MỚI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Freeform 2"/>
          <p:cNvSpPr/>
          <p:nvPr/>
        </p:nvSpPr>
        <p:spPr>
          <a:xfrm>
            <a:off x="5002920" y="1092240"/>
            <a:ext cx="2562840" cy="5117400"/>
          </a:xfrm>
          <a:custGeom>
            <a:avLst/>
            <a:gdLst>
              <a:gd name="textAreaLeft" fmla="*/ 0 w 2562840"/>
              <a:gd name="textAreaRight" fmla="*/ 2564640 w 2562840"/>
              <a:gd name="textAreaTop" fmla="*/ 0 h 5117400"/>
              <a:gd name="textAreaBottom" fmla="*/ 5119200 h 5117400"/>
            </a:gdLst>
            <a:ahLst/>
            <a:cxnLst/>
            <a:rect l="textAreaLeft" t="textAreaTop" r="textAreaRight" b="textAreaBottom"/>
            <a:pathLst>
              <a:path w="9852184" h="8608346">
                <a:moveTo>
                  <a:pt x="0" y="0"/>
                </a:moveTo>
                <a:lnTo>
                  <a:pt x="9852184" y="0"/>
                </a:lnTo>
                <a:lnTo>
                  <a:pt x="9852184" y="8608346"/>
                </a:lnTo>
                <a:lnTo>
                  <a:pt x="0" y="86083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60120" y="6658920"/>
            <a:ext cx="477324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213"/>
              </a:lnSpc>
            </a:pPr>
            <a:r>
              <a:rPr lang="en-US" sz="860" b="0" u="none" spc="-9" strike="noStrike">
                <a:solidFill>
                  <a:srgbClr val="000000"/>
                </a:solidFill>
                <a:effectLst/>
                <a:uFillTx/>
                <a:latin typeface="Arial"/>
                <a:ea typeface="Lora"/>
              </a:rPr>
              <a:t>Wellcome genome bookcase by Russ London/Wikimedia Commons, CC-BY-SA-3.0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Picture 2" descr="[​IMG]"/>
          <p:cNvPicPr/>
          <p:nvPr/>
        </p:nvPicPr>
        <p:blipFill>
          <a:blip r:embed="rId2"/>
          <a:stretch/>
        </p:blipFill>
        <p:spPr>
          <a:xfrm>
            <a:off x="3427920" y="1103760"/>
            <a:ext cx="1480680" cy="222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Box 9"/>
          <p:cNvSpPr/>
          <p:nvPr/>
        </p:nvSpPr>
        <p:spPr>
          <a:xfrm>
            <a:off x="1513080" y="127080"/>
            <a:ext cx="9163800" cy="70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6114"/>
              </a:lnSpc>
            </a:pPr>
            <a:r>
              <a:rPr lang="en-GB" sz="4000" b="1" u="none" spc="-45" strike="noStrike">
                <a:solidFill>
                  <a:srgbClr val="0070C0"/>
                </a:solidFill>
                <a:effectLst/>
                <a:uFillTx/>
                <a:latin typeface="Arial"/>
                <a:ea typeface="Lora Bold"/>
              </a:rPr>
              <a:t>Dự án h</a:t>
            </a:r>
            <a:r>
              <a:rPr lang="en-US" sz="4000" b="1" u="none" spc="-45" strike="noStrike">
                <a:solidFill>
                  <a:srgbClr val="0070C0"/>
                </a:solidFill>
                <a:effectLst/>
                <a:uFillTx/>
                <a:latin typeface="Arial"/>
                <a:ea typeface="Lora Bold"/>
              </a:rPr>
              <a:t>ệ gen người (1990-2003) 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Picture 4" descr="No photo description available."/>
          <p:cNvPicPr/>
          <p:nvPr/>
        </p:nvPicPr>
        <p:blipFill>
          <a:blip r:embed="rId3"/>
          <a:srcRect l="19429" t="8329" r="0" b="0"/>
          <a:stretch/>
        </p:blipFill>
        <p:spPr>
          <a:xfrm>
            <a:off x="430920" y="1092240"/>
            <a:ext cx="2945520" cy="223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Freeform 2"/>
          <p:cNvSpPr/>
          <p:nvPr/>
        </p:nvSpPr>
        <p:spPr>
          <a:xfrm>
            <a:off x="7644600" y="2143800"/>
            <a:ext cx="4190040" cy="3503520"/>
          </a:xfrm>
          <a:custGeom>
            <a:avLst/>
            <a:gdLst>
              <a:gd name="textAreaLeft" fmla="*/ 0 w 4190040"/>
              <a:gd name="textAreaRight" fmla="*/ 4191840 w 4190040"/>
              <a:gd name="textAreaTop" fmla="*/ 0 h 3503520"/>
              <a:gd name="textAreaBottom" fmla="*/ 3505320 h 3503520"/>
            </a:gdLst>
            <a:ahLst/>
            <a:cxnLst/>
            <a:rect l="textAreaLeft" t="textAreaTop" r="textAreaRight" b="textAreaBottom"/>
            <a:pathLst>
              <a:path w="11813739" h="7870904">
                <a:moveTo>
                  <a:pt x="0" y="0"/>
                </a:moveTo>
                <a:lnTo>
                  <a:pt x="11813740" y="0"/>
                </a:lnTo>
                <a:lnTo>
                  <a:pt x="11813740" y="7870904"/>
                </a:lnTo>
                <a:lnTo>
                  <a:pt x="0" y="787090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3"/>
          <p:cNvSpPr/>
          <p:nvPr/>
        </p:nvSpPr>
        <p:spPr>
          <a:xfrm>
            <a:off x="5232240" y="6658920"/>
            <a:ext cx="675468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213"/>
              </a:lnSpc>
            </a:pPr>
            <a:r>
              <a:rPr lang="en-US" sz="860" b="0" u="none" spc="-9" strike="noStrike">
                <a:solidFill>
                  <a:srgbClr val="000000"/>
                </a:solidFill>
                <a:effectLst/>
                <a:uFillTx/>
                <a:latin typeface="Arial"/>
                <a:ea typeface="Lora"/>
              </a:rPr>
              <a:t>The Genome sequence when printed fills a huge book of close print by Stephencdickson/Wikimedia Commons,  CC-BY-SA-4.0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Picture 8" descr="Human genome Project published in 'Nature'... | Download Scientific Diagram"/>
          <p:cNvPicPr/>
          <p:nvPr/>
        </p:nvPicPr>
        <p:blipFill>
          <a:blip r:embed="rId5"/>
          <a:stretch/>
        </p:blipFill>
        <p:spPr>
          <a:xfrm>
            <a:off x="380160" y="3378240"/>
            <a:ext cx="4514400" cy="289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Box 7"/>
          <p:cNvSpPr/>
          <p:nvPr/>
        </p:nvSpPr>
        <p:spPr>
          <a:xfrm>
            <a:off x="7796880" y="1154160"/>
            <a:ext cx="3808080" cy="64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GB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Năm 2000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itle 1"/>
          <p:cNvSpPr/>
          <p:nvPr/>
        </p:nvSpPr>
        <p:spPr>
          <a:xfrm>
            <a:off x="925200" y="365040"/>
            <a:ext cx="10513800" cy="94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 fontScale="92500" lnSpcReduction="9999"/>
          </a:bodyPr>
          <a:p>
            <a:pPr algn="ctr" defTabSz="914400">
              <a:lnSpc>
                <a:spcPct val="90000"/>
              </a:lnSpc>
            </a:pPr>
            <a:r>
              <a:rPr lang="en-US" sz="40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Dự án hệ gen người HGP</a:t>
            </a:r>
            <a:r>
              <a:rPr lang="vi-VN" sz="40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 (</a:t>
            </a:r>
            <a:r>
              <a:rPr lang="en-US" sz="40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Oct 1990 </a:t>
            </a:r>
            <a:r>
              <a:rPr lang="vi-VN" sz="40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-</a:t>
            </a:r>
            <a:r>
              <a:rPr lang="en-US" sz="40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 April 2003</a:t>
            </a:r>
            <a:r>
              <a:rPr lang="vi-VN" sz="40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)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Content Placeholder 2"/>
          <p:cNvSpPr/>
          <p:nvPr/>
        </p:nvSpPr>
        <p:spPr>
          <a:xfrm>
            <a:off x="674280" y="1887480"/>
            <a:ext cx="5256000" cy="43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algn="just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vi-V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Năm 2003,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</a:t>
            </a:r>
            <a:r>
              <a:rPr lang="vi-V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ự án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hệ g</a:t>
            </a:r>
            <a:r>
              <a:rPr lang="vi-V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en người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HGP </a:t>
            </a:r>
            <a:r>
              <a:rPr lang="vi-V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đã tạo ra một chuỗi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trình tự gần 3 tỉ nucleotide </a:t>
            </a:r>
            <a:r>
              <a:rPr lang="vi-V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chiếm hơn 90% bộ gen người.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vi-V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Đây là chuỗi gen hoàn chỉnh nhất có thể đạt được với công nghệ giải trình tự DNA thời điểm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đầu những năm 2000</a:t>
            </a:r>
            <a:r>
              <a:rPr lang="vi-V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vi-V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=&gt;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</a:t>
            </a:r>
            <a:r>
              <a:rPr lang="vi-V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ự phát triển của công nghệ giải trình tự thế hệ mới (NGS).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Picture 2"/>
          <p:cNvPicPr/>
          <p:nvPr/>
        </p:nvPicPr>
        <p:blipFill>
          <a:blip r:embed="rId1"/>
          <a:srcRect l="210" t="0" r="0" b="1590"/>
          <a:stretch/>
        </p:blipFill>
        <p:spPr>
          <a:xfrm>
            <a:off x="8984160" y="1886400"/>
            <a:ext cx="2570400" cy="3231720"/>
          </a:xfrm>
          <a:prstGeom prst="rect">
            <a:avLst/>
          </a:prstGeom>
          <a:noFill/>
          <a:ln w="0">
            <a:noFill/>
          </a:ln>
          <a:effectLst>
            <a:glow rad="127080">
              <a:srgbClr val="02102A"/>
            </a:glow>
          </a:effectLst>
        </p:spPr>
      </p:pic>
      <p:pic>
        <p:nvPicPr>
          <p:cNvPr id="128" name="Picture 3"/>
          <p:cNvPicPr/>
          <p:nvPr/>
        </p:nvPicPr>
        <p:blipFill>
          <a:blip r:embed="rId2"/>
          <a:stretch/>
        </p:blipFill>
        <p:spPr>
          <a:xfrm>
            <a:off x="6315840" y="1899000"/>
            <a:ext cx="2462760" cy="3240720"/>
          </a:xfrm>
          <a:prstGeom prst="rect">
            <a:avLst/>
          </a:prstGeom>
          <a:noFill/>
          <a:ln w="0">
            <a:noFill/>
          </a:ln>
          <a:effectLst>
            <a:glow rad="127080">
              <a:srgbClr val="02102A"/>
            </a:glow>
          </a:effectLst>
        </p:spPr>
      </p:pic>
      <p:sp>
        <p:nvSpPr>
          <p:cNvPr id="129" name="Text Box 9"/>
          <p:cNvSpPr/>
          <p:nvPr/>
        </p:nvSpPr>
        <p:spPr>
          <a:xfrm>
            <a:off x="6788160" y="5249520"/>
            <a:ext cx="144324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byssinica SIL"/>
              </a:rPr>
              <a:t>HGP Paper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Box 9"/>
          <p:cNvSpPr/>
          <p:nvPr/>
        </p:nvSpPr>
        <p:spPr>
          <a:xfrm>
            <a:off x="9158760" y="5280120"/>
            <a:ext cx="22071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byssinica SIL"/>
              </a:rPr>
              <a:t>Venter/Celera Paper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2" descr="Karyotype And Karyotyping."/>
          <p:cNvPicPr/>
          <p:nvPr/>
        </p:nvPicPr>
        <p:blipFill>
          <a:blip r:embed="rId1"/>
          <a:srcRect l="0" t="33070" r="0" b="0"/>
          <a:stretch/>
        </p:blipFill>
        <p:spPr>
          <a:xfrm>
            <a:off x="649440" y="2783520"/>
            <a:ext cx="8661240" cy="303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2298600" y="449640"/>
            <a:ext cx="7012080" cy="96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Human Karyotype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TextBox 4"/>
          <p:cNvSpPr/>
          <p:nvPr/>
        </p:nvSpPr>
        <p:spPr>
          <a:xfrm>
            <a:off x="846360" y="5556960"/>
            <a:ext cx="60940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https://microbenotes.com/karyotype-karyotyping/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Picture 6"/>
          <p:cNvPicPr/>
          <p:nvPr/>
        </p:nvPicPr>
        <p:blipFill>
          <a:blip r:embed="rId2"/>
          <a:stretch/>
        </p:blipFill>
        <p:spPr>
          <a:xfrm>
            <a:off x="8039160" y="87120"/>
            <a:ext cx="4036680" cy="3493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Picture 1"/>
          <p:cNvPicPr/>
          <p:nvPr/>
        </p:nvPicPr>
        <p:blipFill>
          <a:blip r:embed="rId1"/>
          <a:stretch/>
        </p:blipFill>
        <p:spPr>
          <a:xfrm>
            <a:off x="5956560" y="867600"/>
            <a:ext cx="4681440" cy="510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Picture 2"/>
          <p:cNvPicPr/>
          <p:nvPr/>
        </p:nvPicPr>
        <p:blipFill>
          <a:blip r:embed="rId2"/>
          <a:srcRect l="16819" t="0" r="9747" b="0"/>
          <a:stretch/>
        </p:blipFill>
        <p:spPr>
          <a:xfrm>
            <a:off x="2769480" y="854280"/>
            <a:ext cx="2822400" cy="512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 Box 2"/>
          <p:cNvSpPr/>
          <p:nvPr/>
        </p:nvSpPr>
        <p:spPr>
          <a:xfrm>
            <a:off x="1326600" y="6027840"/>
            <a:ext cx="491076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127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https://www.ncbi.nlm.nih.gov/nuccore/806904736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5"/>
          <p:cNvSpPr/>
          <p:nvPr/>
        </p:nvSpPr>
        <p:spPr>
          <a:xfrm>
            <a:off x="711360" y="1601280"/>
            <a:ext cx="2056320" cy="258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54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Hệ Gen người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 1"/>
          <p:cNvSpPr/>
          <p:nvPr/>
        </p:nvSpPr>
        <p:spPr>
          <a:xfrm>
            <a:off x="760680" y="248040"/>
            <a:ext cx="10513800" cy="6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 fontScale="85000" lnSpcReduction="19999"/>
          </a:bodyPr>
          <a:p>
            <a:pPr algn="ctr" defTabSz="914400">
              <a:lnSpc>
                <a:spcPct val="90000"/>
              </a:lnSpc>
            </a:pPr>
            <a:r>
              <a:rPr lang="en-US" sz="60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Các loại biến thể trên hệ gen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719640" y="1471680"/>
            <a:ext cx="6471000" cy="156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byssinica SI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Hệ gen giữa hai người giống nhau &gt; 99%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byssinica SI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Mỗi người có khoảng 5 triệu biến thể, trong đó có 3 đến 4 triệu biến thể một nucleotide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byssinica SI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Hệ gen người là hệ lưỡng bội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" name="Picture 3"/>
          <p:cNvPicPr/>
          <p:nvPr/>
        </p:nvPicPr>
        <p:blipFill>
          <a:blip r:embed="rId1"/>
          <a:stretch/>
        </p:blipFill>
        <p:spPr>
          <a:xfrm>
            <a:off x="966600" y="3153600"/>
            <a:ext cx="6210000" cy="277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Picture 5"/>
          <p:cNvPicPr/>
          <p:nvPr/>
        </p:nvPicPr>
        <p:blipFill>
          <a:blip r:embed="rId2"/>
          <a:stretch/>
        </p:blipFill>
        <p:spPr>
          <a:xfrm>
            <a:off x="7761600" y="1448640"/>
            <a:ext cx="3430080" cy="449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Picture 7"/>
          <p:cNvPicPr/>
          <p:nvPr/>
        </p:nvPicPr>
        <p:blipFill>
          <a:blip r:embed="rId3"/>
          <a:stretch/>
        </p:blipFill>
        <p:spPr>
          <a:xfrm>
            <a:off x="3613320" y="6413760"/>
            <a:ext cx="4513320" cy="195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itle 1"/>
          <p:cNvSpPr/>
          <p:nvPr/>
        </p:nvSpPr>
        <p:spPr>
          <a:xfrm>
            <a:off x="838080" y="376560"/>
            <a:ext cx="10513800" cy="6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 lnSpcReduction="9999"/>
          </a:bodyPr>
          <a:p>
            <a:pPr algn="ctr" defTabSz="914400">
              <a:lnSpc>
                <a:spcPct val="90000"/>
              </a:lnSpc>
            </a:pP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Các loại biến thể trên hệ gen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" name="Picture 2" descr="Some types of variants found in human genomes Variation involving one or a few nucleotides are shown above the chromosome icon, and structural variants below; in each case the variants are depicted in relation to the reference sequence. For depiction of structural variants A, B, C and D represent large segments of DNA; Y and Z represent segments of DNA from a different chromosome. Note that differentiation between CNVs and deletions/insertions depends upon the size of the relevant DNA segment (see text for further details). Abbreviation: CNV, copy number variant. Chromosome ideogram from NCBI Genome Decoration Page."/>
          <p:cNvPicPr/>
          <p:nvPr/>
        </p:nvPicPr>
        <p:blipFill>
          <a:blip r:embed="rId1"/>
          <a:stretch/>
        </p:blipFill>
        <p:spPr>
          <a:xfrm>
            <a:off x="1479240" y="1278000"/>
            <a:ext cx="9050400" cy="470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TextBox 9"/>
          <p:cNvSpPr/>
          <p:nvPr/>
        </p:nvSpPr>
        <p:spPr>
          <a:xfrm>
            <a:off x="9230040" y="6222960"/>
            <a:ext cx="281376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10.1042/EBC20170053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3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First Generation Sequencing (Sanger Sequencing)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AU" sz="2800" b="0" u="sng" strike="noStrike">
                <a:solidFill>
                  <a:schemeClr val="dk1"/>
                </a:solidFill>
                <a:effectLst/>
                <a:uFillTx/>
                <a:latin typeface="Times New Roman"/>
                <a:hlinkClick r:id="rId1"/>
              </a:rPr>
              <a:t>https://www.youtube.com/watch?v=KTstRrDTmWI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AU" sz="2800" b="0" u="sng" strike="noStrike">
                <a:solidFill>
                  <a:schemeClr val="dk1"/>
                </a:solidFill>
                <a:effectLst/>
                <a:uFillTx/>
                <a:latin typeface="Times New Roman"/>
                <a:hlinkClick r:id="rId2"/>
              </a:rPr>
              <a:t>https://www.youtube.com/watch?v=X9566yI2cBo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Picture 2" descr="dna sequencing"/>
          <p:cNvPicPr/>
          <p:nvPr/>
        </p:nvPicPr>
        <p:blipFill>
          <a:blip r:embed="rId1"/>
          <a:stretch/>
        </p:blipFill>
        <p:spPr>
          <a:xfrm>
            <a:off x="460080" y="882360"/>
            <a:ext cx="6213960" cy="562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itle 1"/>
          <p:cNvSpPr/>
          <p:nvPr/>
        </p:nvSpPr>
        <p:spPr>
          <a:xfrm>
            <a:off x="838080" y="207360"/>
            <a:ext cx="105138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 lnSpcReduction="9999"/>
          </a:bodyPr>
          <a:p>
            <a:pPr algn="ctr" defTabSz="914400">
              <a:lnSpc>
                <a:spcPct val="90000"/>
              </a:lnSpc>
            </a:pPr>
            <a:r>
              <a:rPr lang="en-US" sz="36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Giải trình tự gen thế hệ mới (NGS)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3"/>
          <p:cNvSpPr/>
          <p:nvPr/>
        </p:nvSpPr>
        <p:spPr>
          <a:xfrm>
            <a:off x="1184400" y="6474960"/>
            <a:ext cx="583632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https://www.genome.gov/about-genomics/fact-sheets/Sequencing-Human-Genome-cost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Picture 4"/>
          <p:cNvPicPr/>
          <p:nvPr/>
        </p:nvPicPr>
        <p:blipFill>
          <a:blip r:embed="rId2"/>
          <a:srcRect l="0" t="0" r="0" b="3742"/>
          <a:stretch/>
        </p:blipFill>
        <p:spPr>
          <a:xfrm>
            <a:off x="7320960" y="1355760"/>
            <a:ext cx="3962160" cy="233352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sp>
        <p:nvSpPr>
          <p:cNvPr id="153" name="TextBox 7"/>
          <p:cNvSpPr/>
          <p:nvPr/>
        </p:nvSpPr>
        <p:spPr>
          <a:xfrm>
            <a:off x="7834320" y="936720"/>
            <a:ext cx="29354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vi-VN" sz="1800" b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Abyssinica SIL"/>
              </a:rPr>
              <a:t>D</a:t>
            </a:r>
            <a:r>
              <a:rPr lang="en-US" sz="1800" b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Abyssinica SIL"/>
              </a:rPr>
              <a:t>e novo assembly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Picture 6" descr="Explanation of mapping. "/>
          <p:cNvPicPr/>
          <p:nvPr/>
        </p:nvPicPr>
        <p:blipFill>
          <a:blip r:embed="rId3"/>
          <a:stretch/>
        </p:blipFill>
        <p:spPr>
          <a:xfrm>
            <a:off x="7302960" y="4286880"/>
            <a:ext cx="4049280" cy="2355120"/>
          </a:xfrm>
          <a:prstGeom prst="rect">
            <a:avLst/>
          </a:prstGeom>
          <a:noFill/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sp>
        <p:nvSpPr>
          <p:cNvPr id="155" name="TextBox 10"/>
          <p:cNvSpPr/>
          <p:nvPr/>
        </p:nvSpPr>
        <p:spPr>
          <a:xfrm>
            <a:off x="7890120" y="3883680"/>
            <a:ext cx="29354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vi-VN" sz="1800" b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Abyssinica SIL"/>
              </a:rPr>
              <a:t>Mapping to reference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Ví dụ nhỏ: N = 5 -&gt; 5</a:t>
            </a:r>
            <a:r>
              <a:rPr lang="en-GB" sz="2000" b="0" u="none" strike="noStrike" baseline="30000">
                <a:solidFill>
                  <a:schemeClr val="dk1"/>
                </a:solidFill>
                <a:effectLst/>
                <a:uFillTx/>
                <a:latin typeface="Times New Roman"/>
              </a:rPr>
              <a:t>2</a:t>
            </a:r>
            <a:br>
              <a:rPr sz="2000"/>
            </a:b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Ví dụ ở vi khuẩn giải 100X: N = (3,500,000 x 100)/100 = 3,500,000 PE100 </a:t>
            </a: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(3,500,000)</a:t>
            </a:r>
            <a:r>
              <a:rPr lang="en-GB" sz="2000" b="0" u="none" strike="noStrike" baseline="30000">
                <a:solidFill>
                  <a:schemeClr val="dk1"/>
                </a:solidFill>
                <a:effectLst/>
                <a:uFillTx/>
                <a:latin typeface="Times New Roman"/>
              </a:rPr>
              <a:t>2</a:t>
            </a:r>
            <a:br>
              <a:rPr sz="2000"/>
            </a:b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Ví dụ ở người giải 30X: N = (3,000,000,000 x 30)/150 = 600,000,000 PE150 </a:t>
            </a: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(600,000,000)</a:t>
            </a:r>
            <a:r>
              <a:rPr lang="en-GB" sz="2000" b="0" u="none" strike="noStrike" baseline="30000">
                <a:solidFill>
                  <a:schemeClr val="dk1"/>
                </a:solidFill>
                <a:effectLst/>
                <a:uFillTx/>
                <a:latin typeface="Times New Roman"/>
              </a:rPr>
              <a:t>2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838080" y="1847520"/>
            <a:ext cx="432900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1) ACTCAGAT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2) ATGTACTCA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3) CAGATTTGC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4) GATCAGTCA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5) CATCAGTTT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AU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 Novo Assembly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2) ATGT</a:t>
            </a:r>
            <a:r>
              <a:rPr lang="en-GB" sz="2800" b="0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ACTCA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1)</a:t>
            </a:r>
            <a:r>
              <a:rPr lang="en-GB" sz="2800" b="0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ACTCA</a:t>
            </a:r>
            <a:r>
              <a:rPr lang="en-GB" sz="2800" b="0" u="none" strike="noStrike">
                <a:solidFill>
                  <a:schemeClr val="accent1"/>
                </a:solidFill>
                <a:effectLst/>
                <a:uFillTx/>
                <a:latin typeface="Courier New"/>
              </a:rPr>
              <a:t>GAT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514440" indent="-514440" algn="l" defTabSz="914400">
              <a:lnSpc>
                <a:spcPct val="90000"/>
              </a:lnSpc>
              <a:spcBef>
                <a:spcPts val="1001"/>
              </a:spcBef>
              <a:buClr>
                <a:srgbClr val="4472C4"/>
              </a:buClr>
              <a:buFont typeface="Arial"/>
              <a:buAutoNum type="arabicParenR" startAt="3"/>
              <a:tabLst>
                <a:tab pos="0" algn="l"/>
              </a:tabLst>
            </a:pPr>
            <a:r>
              <a:rPr lang="en-GB" sz="2800" b="0" u="none" strike="noStrike">
                <a:solidFill>
                  <a:schemeClr val="accent1"/>
                </a:solidFill>
                <a:effectLst/>
                <a:uFillTx/>
                <a:latin typeface="Courier New"/>
              </a:rPr>
              <a:t>       CAGAT</a:t>
            </a: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TTGC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ATGT</a:t>
            </a:r>
            <a:r>
              <a:rPr lang="en-GB" sz="2800" b="0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ACTCA</a:t>
            </a:r>
            <a:r>
              <a:rPr lang="en-GB" sz="2800" b="0" u="none" strike="noStrike">
                <a:solidFill>
                  <a:schemeClr val="accent1"/>
                </a:solidFill>
                <a:effectLst/>
                <a:uFillTx/>
                <a:latin typeface="Courier New"/>
              </a:rPr>
              <a:t>GAT</a:t>
            </a: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TTGC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58" name="Table 5"/>
          <p:cNvGraphicFramePr/>
          <p:nvPr/>
        </p:nvGraphicFramePr>
        <p:xfrm>
          <a:off x="3706920" y="1738080"/>
          <a:ext cx="3971880" cy="2311560"/>
        </p:xfrm>
        <a:graphic>
          <a:graphicData uri="http://schemas.openxmlformats.org/drawingml/2006/table">
            <a:tbl>
              <a:tblPr/>
              <a:tblGrid>
                <a:gridCol w="996480"/>
                <a:gridCol w="327600"/>
                <a:gridCol w="662040"/>
                <a:gridCol w="662040"/>
                <a:gridCol w="662040"/>
                <a:gridCol w="66204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AU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De Novo Assembly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AU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AU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AU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AU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AU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AU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AU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AU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AU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AU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AU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AU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AU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AU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AU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9" name="TextBox 5"/>
          <p:cNvSpPr/>
          <p:nvPr/>
        </p:nvSpPr>
        <p:spPr>
          <a:xfrm>
            <a:off x="6165360" y="4413240"/>
            <a:ext cx="4488120" cy="19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Mapping to Reference Genome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Ref  ATGT</a:t>
            </a:r>
            <a:r>
              <a:rPr lang="en-GB" sz="2400" b="0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ACTCA</a:t>
            </a:r>
            <a:r>
              <a:rPr lang="en-GB" sz="2400" b="0" u="none" strike="noStrike">
                <a:solidFill>
                  <a:schemeClr val="accent1"/>
                </a:solidFill>
                <a:effectLst/>
                <a:uFillTx/>
                <a:latin typeface="Courier New"/>
              </a:rPr>
              <a:t>GAT</a:t>
            </a: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TTGC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2400" b="0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         ACTCA</a:t>
            </a:r>
            <a:r>
              <a:rPr lang="en-GB" sz="2400" b="0" u="none" strike="noStrike">
                <a:solidFill>
                  <a:schemeClr val="accent1"/>
                </a:solidFill>
                <a:effectLst/>
                <a:uFillTx/>
                <a:latin typeface="Courier New"/>
              </a:rPr>
              <a:t>GAT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 ATGT</a:t>
            </a:r>
            <a:r>
              <a:rPr lang="en-GB" sz="2400" b="0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ACTCA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2400" b="0" u="none" strike="noStrike">
                <a:solidFill>
                  <a:schemeClr val="accent1"/>
                </a:solidFill>
                <a:effectLst/>
                <a:uFillTx/>
                <a:latin typeface="Courier New"/>
              </a:rPr>
              <a:t>            CAGAT</a:t>
            </a: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TTGC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0" name="Table 5"/>
          <p:cNvGraphicFramePr/>
          <p:nvPr/>
        </p:nvGraphicFramePr>
        <p:xfrm>
          <a:off x="7861680" y="1742760"/>
          <a:ext cx="3720240" cy="2494440"/>
        </p:xfrm>
        <a:graphic>
          <a:graphicData uri="http://schemas.openxmlformats.org/drawingml/2006/table">
            <a:tbl>
              <a:tblPr/>
              <a:tblGrid>
                <a:gridCol w="1139760"/>
                <a:gridCol w="258084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Mapping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Reference Genome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itle 1"/>
          <p:cNvSpPr/>
          <p:nvPr/>
        </p:nvSpPr>
        <p:spPr>
          <a:xfrm>
            <a:off x="838080" y="160920"/>
            <a:ext cx="1051380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 fontScale="85000" lnSpcReduction="9999"/>
          </a:bodyPr>
          <a:p>
            <a:pPr algn="ctr" defTabSz="914400">
              <a:lnSpc>
                <a:spcPct val="90000"/>
              </a:lnSpc>
            </a:pPr>
            <a:r>
              <a:rPr lang="en-US" sz="36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Giải trình tự gen thế hệ mới (NGS):</a:t>
            </a:r>
            <a:r>
              <a:rPr lang="en-US" sz="3600" b="1" u="none" strike="noStrike">
                <a:solidFill>
                  <a:srgbClr val="7030A0"/>
                </a:solidFill>
                <a:effectLst/>
                <a:uFillTx/>
                <a:latin typeface="Times New Roman"/>
              </a:rPr>
              <a:t> </a:t>
            </a:r>
            <a:r>
              <a:rPr lang="en-US" sz="3600" b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Có hệ gen tham chiếu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7"/>
          <p:cNvSpPr/>
          <p:nvPr/>
        </p:nvSpPr>
        <p:spPr>
          <a:xfrm>
            <a:off x="1753920" y="1049760"/>
            <a:ext cx="293544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vi-VN" sz="2800" b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Abyssinica SIL"/>
              </a:rPr>
              <a:t>D</a:t>
            </a:r>
            <a:r>
              <a:rPr lang="en-US" sz="2800" b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Abyssinica SIL"/>
              </a:rPr>
              <a:t>e novo assembly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0"/>
          <p:cNvSpPr/>
          <p:nvPr/>
        </p:nvSpPr>
        <p:spPr>
          <a:xfrm>
            <a:off x="7118280" y="1049760"/>
            <a:ext cx="353592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vi-VN" sz="2800" b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Abyssinica SIL"/>
              </a:rPr>
              <a:t>Mapping to reference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Picture 2"/>
          <p:cNvPicPr/>
          <p:nvPr/>
        </p:nvPicPr>
        <p:blipFill>
          <a:blip r:embed="rId1"/>
          <a:srcRect l="2389" t="3744" r="0" b="3118"/>
          <a:stretch/>
        </p:blipFill>
        <p:spPr>
          <a:xfrm>
            <a:off x="6633000" y="1582200"/>
            <a:ext cx="4166280" cy="397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Picture 4" descr="The History of Jigsaw Puzzles | Blue Kazoo"/>
          <p:cNvPicPr/>
          <p:nvPr/>
        </p:nvPicPr>
        <p:blipFill>
          <a:blip r:embed="rId2"/>
          <a:stretch/>
        </p:blipFill>
        <p:spPr>
          <a:xfrm>
            <a:off x="1089000" y="2143080"/>
            <a:ext cx="4570200" cy="25700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6" name="Straight Connector 5"/>
          <p:cNvCxnSpPr/>
          <p:nvPr/>
        </p:nvCxnSpPr>
        <p:spPr>
          <a:xfrm>
            <a:off x="6226560" y="1122120"/>
            <a:ext cx="1800" cy="4743360"/>
          </a:xfrm>
          <a:prstGeom prst="straightConnector1">
            <a:avLst/>
          </a:prstGeom>
          <a:ln w="0">
            <a:solidFill>
              <a:srgbClr val="4472C4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 1"/>
          <p:cNvSpPr/>
          <p:nvPr/>
        </p:nvSpPr>
        <p:spPr>
          <a:xfrm>
            <a:off x="641520" y="1417320"/>
            <a:ext cx="2330280" cy="33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90000"/>
              </a:lnSpc>
            </a:pPr>
            <a:r>
              <a:rPr lang="en-US" sz="40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Giải trình tự gen thế hệ mới (NGS): </a:t>
            </a:r>
            <a:r>
              <a:rPr lang="en-US" sz="4000" b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giải trình tự song song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" name="Picture 6"/>
          <p:cNvPicPr/>
          <p:nvPr/>
        </p:nvPicPr>
        <p:blipFill>
          <a:blip r:embed="rId1"/>
          <a:stretch/>
        </p:blipFill>
        <p:spPr>
          <a:xfrm>
            <a:off x="3877920" y="242280"/>
            <a:ext cx="4706640" cy="653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Picture 10"/>
          <p:cNvPicPr/>
          <p:nvPr/>
        </p:nvPicPr>
        <p:blipFill>
          <a:blip r:embed="rId2"/>
          <a:stretch/>
        </p:blipFill>
        <p:spPr>
          <a:xfrm>
            <a:off x="9370440" y="4472640"/>
            <a:ext cx="2074680" cy="1998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Picture 11"/>
          <p:cNvPicPr/>
          <p:nvPr/>
        </p:nvPicPr>
        <p:blipFill>
          <a:blip r:embed="rId3"/>
          <a:srcRect l="0" t="0" r="0" b="85691"/>
          <a:stretch/>
        </p:blipFill>
        <p:spPr>
          <a:xfrm>
            <a:off x="1344240" y="5625720"/>
            <a:ext cx="2074680" cy="28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TextBox 13"/>
          <p:cNvSpPr/>
          <p:nvPr/>
        </p:nvSpPr>
        <p:spPr>
          <a:xfrm>
            <a:off x="75600" y="6488640"/>
            <a:ext cx="29998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10.1007/s40142-015-0076-8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itle 1"/>
          <p:cNvSpPr/>
          <p:nvPr/>
        </p:nvSpPr>
        <p:spPr>
          <a:xfrm>
            <a:off x="9247680" y="665640"/>
            <a:ext cx="2330280" cy="35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90000"/>
              </a:lnSpc>
            </a:pPr>
            <a:r>
              <a:rPr lang="en-US" sz="34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Giải trình tự gen thế hệ mới (NGS): </a:t>
            </a:r>
            <a:r>
              <a:rPr lang="en-US" sz="3400" b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chuẩn bị thư viện có kit thương mại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icture 1"/>
          <p:cNvPicPr/>
          <p:nvPr/>
        </p:nvPicPr>
        <p:blipFill>
          <a:blip r:embed="rId1"/>
          <a:stretch/>
        </p:blipFill>
        <p:spPr>
          <a:xfrm>
            <a:off x="262080" y="880560"/>
            <a:ext cx="11764800" cy="569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TextBox 2"/>
          <p:cNvSpPr/>
          <p:nvPr/>
        </p:nvSpPr>
        <p:spPr>
          <a:xfrm>
            <a:off x="317160" y="120600"/>
            <a:ext cx="108842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GB" sz="3200" b="1" u="none" strike="noStrike">
                <a:solidFill>
                  <a:srgbClr val="0070C0"/>
                </a:solidFill>
                <a:effectLst/>
                <a:uFillTx/>
                <a:latin typeface="Arial"/>
              </a:rPr>
              <a:t>Trực quan hóa dữ liệu giải trình tự DNA bằng NGS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3"/>
          <p:cNvSpPr/>
          <p:nvPr/>
        </p:nvSpPr>
        <p:spPr>
          <a:xfrm>
            <a:off x="10058400" y="3496320"/>
            <a:ext cx="1655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GB" sz="2400" b="1" u="none" strike="noStrike">
                <a:solidFill>
                  <a:srgbClr val="0070C0"/>
                </a:solidFill>
                <a:effectLst/>
                <a:uFillTx/>
                <a:latin typeface="Arial"/>
              </a:rPr>
              <a:t>Sanger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6" name="Straight Connector 5"/>
          <p:cNvCxnSpPr/>
          <p:nvPr/>
        </p:nvCxnSpPr>
        <p:spPr>
          <a:xfrm>
            <a:off x="4927680" y="2217240"/>
            <a:ext cx="1800" cy="3440520"/>
          </a:xfrm>
          <a:prstGeom prst="straightConnector1">
            <a:avLst/>
          </a:prstGeom>
          <a:ln w="0">
            <a:solidFill>
              <a:srgbClr val="4472C4"/>
            </a:solidFill>
          </a:ln>
        </p:spPr>
      </p:cxnSp>
      <p:sp>
        <p:nvSpPr>
          <p:cNvPr id="177" name="TextBox 6"/>
          <p:cNvSpPr/>
          <p:nvPr/>
        </p:nvSpPr>
        <p:spPr>
          <a:xfrm>
            <a:off x="2009520" y="5924520"/>
            <a:ext cx="31575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 10th G: 99G, 1A (100X)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7"/>
          <p:cNvSpPr/>
          <p:nvPr/>
        </p:nvSpPr>
        <p:spPr>
          <a:xfrm>
            <a:off x="4757400" y="6214320"/>
            <a:ext cx="30434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 14th A: 55A, 45T (100X)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9" name="Straight Connector 8"/>
          <p:cNvCxnSpPr/>
          <p:nvPr/>
        </p:nvCxnSpPr>
        <p:spPr>
          <a:xfrm>
            <a:off x="6558480" y="2369880"/>
            <a:ext cx="1800" cy="3440160"/>
          </a:xfrm>
          <a:prstGeom prst="straightConnector1">
            <a:avLst/>
          </a:prstGeom>
          <a:ln w="0">
            <a:solidFill>
              <a:srgbClr val="4472C4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838080" y="195480"/>
            <a:ext cx="1051380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4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Đồng hợp tử hay dị hợp tử?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81" name="Picture 2"/>
          <p:cNvPicPr/>
          <p:nvPr/>
        </p:nvPicPr>
        <p:blipFill>
          <a:blip r:embed="rId1"/>
          <a:stretch/>
        </p:blipFill>
        <p:spPr>
          <a:xfrm>
            <a:off x="1407240" y="1122120"/>
            <a:ext cx="9041760" cy="508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TextBox 4"/>
          <p:cNvSpPr/>
          <p:nvPr/>
        </p:nvSpPr>
        <p:spPr>
          <a:xfrm>
            <a:off x="1171800" y="6385680"/>
            <a:ext cx="101800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A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https://avantonder.github.io/Ghana_course/materials/05-short_read_mapping/5.1-short_read_mapping.html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838080" y="195480"/>
            <a:ext cx="1051380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4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Đồng hợp tử hay dị hợp tử?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TextBox 4"/>
          <p:cNvSpPr/>
          <p:nvPr/>
        </p:nvSpPr>
        <p:spPr>
          <a:xfrm>
            <a:off x="1171800" y="6385680"/>
            <a:ext cx="101800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A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https://datasets.genepattern.org/data/workshops/240411-PSTP/3_SNPs.pdf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Picture 3"/>
          <p:cNvPicPr/>
          <p:nvPr/>
        </p:nvPicPr>
        <p:blipFill>
          <a:blip r:embed="rId1"/>
          <a:stretch/>
        </p:blipFill>
        <p:spPr>
          <a:xfrm>
            <a:off x="1422720" y="996480"/>
            <a:ext cx="3911760" cy="509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6" name="Picture 6"/>
          <p:cNvPicPr/>
          <p:nvPr/>
        </p:nvPicPr>
        <p:blipFill>
          <a:blip r:embed="rId2"/>
          <a:stretch/>
        </p:blipFill>
        <p:spPr>
          <a:xfrm>
            <a:off x="5970240" y="1038240"/>
            <a:ext cx="4562640" cy="5014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838080" y="195480"/>
            <a:ext cx="1051380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4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Đồng hợp tử hay dị hợp tử?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TextBox 4"/>
          <p:cNvSpPr/>
          <p:nvPr/>
        </p:nvSpPr>
        <p:spPr>
          <a:xfrm>
            <a:off x="1171800" y="6385680"/>
            <a:ext cx="101800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A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https://datasets.genepattern.org/data/workshops/240411-PSTP/3_SNPs.pdf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9" name="Picture 5"/>
          <p:cNvPicPr/>
          <p:nvPr/>
        </p:nvPicPr>
        <p:blipFill>
          <a:blip r:embed="rId1"/>
          <a:stretch/>
        </p:blipFill>
        <p:spPr>
          <a:xfrm>
            <a:off x="288720" y="919800"/>
            <a:ext cx="5110200" cy="540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Picture 8"/>
          <p:cNvPicPr/>
          <p:nvPr/>
        </p:nvPicPr>
        <p:blipFill>
          <a:blip r:embed="rId2"/>
          <a:stretch/>
        </p:blipFill>
        <p:spPr>
          <a:xfrm>
            <a:off x="5458320" y="1628640"/>
            <a:ext cx="6405120" cy="3807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ontent Placeholder 2"/>
          <p:cNvSpPr/>
          <p:nvPr/>
        </p:nvSpPr>
        <p:spPr>
          <a:xfrm>
            <a:off x="387720" y="1828800"/>
            <a:ext cx="11101680" cy="335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60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Ví dụ mối quan hệ của</a:t>
            </a:r>
            <a:r>
              <a:rPr lang="en-US" sz="6000" b="1" u="none" strike="noStrike">
                <a:solidFill>
                  <a:srgbClr val="7030A0"/>
                </a:solidFill>
                <a:effectLst/>
                <a:uFillTx/>
                <a:latin typeface="Times New Roman"/>
              </a:rPr>
              <a:t> 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4400" b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BIẾN THỂ GEN </a:t>
            </a: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và</a:t>
            </a:r>
            <a:r>
              <a:rPr lang="en-US" sz="4400" b="1" u="none" strike="noStrike">
                <a:solidFill>
                  <a:srgbClr val="7030A0"/>
                </a:solidFill>
                <a:effectLst/>
                <a:uFillTx/>
                <a:latin typeface="Times New Roman"/>
              </a:rPr>
              <a:t> </a:t>
            </a:r>
            <a:r>
              <a:rPr lang="en-US" sz="4400" b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BỆNH DI TRUYỀN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838080" y="452160"/>
            <a:ext cx="10513800" cy="99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Phenylketonuria (PKU): Rối loạn chuyển hóa di truyền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93" name="Content Placeholder 3"/>
          <p:cNvPicPr/>
          <p:nvPr/>
        </p:nvPicPr>
        <p:blipFill>
          <a:blip r:embed="rId1"/>
          <a:stretch/>
        </p:blipFill>
        <p:spPr>
          <a:xfrm>
            <a:off x="7956360" y="1450800"/>
            <a:ext cx="3395520" cy="354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Box 5"/>
          <p:cNvSpPr/>
          <p:nvPr/>
        </p:nvSpPr>
        <p:spPr>
          <a:xfrm>
            <a:off x="809280" y="1605240"/>
            <a:ext cx="6736320" cy="33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vi-VN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Nguyên nhân do thiếu hụt enzyme phenylalanine hydroxylase.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vi-VN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Sự mất enzyme này dẫn đến suy giảm trí tuệ, tổn thương cơ quan, tư thế bất thường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vi-VN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Tần suất xảy ra PKU khác nhau giữa các nhóm dân tộc và các vùng địa lý trên toàn thế giới. Ở Hoa Kỳ, PKU xảy ra ở 1 trong 25.000 trẻ sơ sinh.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vi-VN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Hầu hết các trường hợp PKU được phát hiện ngay sau sinh bằng sàng lọc sơ sinh và điều trị được bắt đầu ngay lập tức.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7"/>
          <p:cNvSpPr/>
          <p:nvPr/>
        </p:nvSpPr>
        <p:spPr>
          <a:xfrm>
            <a:off x="1103040" y="5524560"/>
            <a:ext cx="609696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https://www.ncbi.nlm.nih.gov/books/NBK22253/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Content Placeholder 4"/>
          <p:cNvPicPr/>
          <p:nvPr/>
        </p:nvPicPr>
        <p:blipFill>
          <a:blip r:embed="rId1"/>
          <a:stretch/>
        </p:blipFill>
        <p:spPr>
          <a:xfrm>
            <a:off x="1659240" y="1647360"/>
            <a:ext cx="5426640" cy="415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TextBox 8"/>
          <p:cNvSpPr/>
          <p:nvPr/>
        </p:nvSpPr>
        <p:spPr>
          <a:xfrm>
            <a:off x="1640160" y="5948280"/>
            <a:ext cx="609696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https://medlineplus.gov/genetics/condition/phenylketonuria/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0"/>
          <p:cNvSpPr/>
          <p:nvPr/>
        </p:nvSpPr>
        <p:spPr>
          <a:xfrm>
            <a:off x="7670880" y="2036880"/>
            <a:ext cx="3381840" cy="33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lang="en-US" sz="1800" b="1" u="none" strike="noStrike">
                <a:solidFill>
                  <a:srgbClr val="444444"/>
                </a:solidFill>
                <a:effectLst/>
                <a:uFillTx/>
                <a:latin typeface="Times New Roman"/>
              </a:rPr>
              <a:t>Tên khác của PKU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444444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rgbClr val="444444"/>
                </a:solidFill>
                <a:effectLst/>
                <a:uFillTx/>
                <a:latin typeface="Times New Roman"/>
              </a:rPr>
              <a:t>Folling disease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444444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rgbClr val="444444"/>
                </a:solidFill>
                <a:effectLst/>
                <a:uFillTx/>
                <a:latin typeface="Times New Roman"/>
              </a:rPr>
              <a:t>Folling's disease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444444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rgbClr val="444444"/>
                </a:solidFill>
                <a:effectLst/>
                <a:uFillTx/>
                <a:latin typeface="Times New Roman"/>
              </a:rPr>
              <a:t>PAH deficiency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444444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rgbClr val="444444"/>
                </a:solidFill>
                <a:effectLst/>
                <a:uFillTx/>
                <a:latin typeface="Times New Roman"/>
              </a:rPr>
              <a:t>Phenylalanine hydroxylase deficiency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444444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rgbClr val="444444"/>
                </a:solidFill>
                <a:effectLst/>
                <a:uFillTx/>
                <a:latin typeface="Times New Roman"/>
              </a:rPr>
              <a:t>Phenylalanine hydroxylase deficiency disease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619920" y="289440"/>
            <a:ext cx="11125080" cy="99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Phenylketonuria (PKU): Rối loạn chuyển hóa di truyền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585720" y="583560"/>
            <a:ext cx="11012760" cy="76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Trình tự gen PAH ở người - Homo sapiens (5053)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01" name="Content Placeholder 4"/>
          <p:cNvPicPr/>
          <p:nvPr/>
        </p:nvPicPr>
        <p:blipFill>
          <a:blip r:embed="rId1"/>
          <a:srcRect l="0" t="0" r="12481" b="0"/>
          <a:stretch/>
        </p:blipFill>
        <p:spPr>
          <a:xfrm>
            <a:off x="1085040" y="2362680"/>
            <a:ext cx="4540320" cy="332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" name="Picture 6"/>
          <p:cNvPicPr/>
          <p:nvPr/>
        </p:nvPicPr>
        <p:blipFill>
          <a:blip r:embed="rId2"/>
          <a:srcRect l="0" t="2829" r="13879" b="3553"/>
          <a:stretch/>
        </p:blipFill>
        <p:spPr>
          <a:xfrm>
            <a:off x="5997600" y="3134520"/>
            <a:ext cx="6001560" cy="165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TextBox 8"/>
          <p:cNvSpPr/>
          <p:nvPr/>
        </p:nvSpPr>
        <p:spPr>
          <a:xfrm>
            <a:off x="1013760" y="1829160"/>
            <a:ext cx="46832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Gene (Nucleotide)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0"/>
          <p:cNvSpPr/>
          <p:nvPr/>
        </p:nvSpPr>
        <p:spPr>
          <a:xfrm>
            <a:off x="6721560" y="5141160"/>
            <a:ext cx="48067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https://www.genome.jp/entry/T01001:5053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2"/>
          <p:cNvSpPr/>
          <p:nvPr/>
        </p:nvSpPr>
        <p:spPr>
          <a:xfrm>
            <a:off x="5997600" y="2496600"/>
            <a:ext cx="46832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Protein (Amino Acid)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838080" y="130320"/>
            <a:ext cx="10513800" cy="75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Gen PAH (Năm 2009)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TextBox 6"/>
          <p:cNvSpPr/>
          <p:nvPr/>
        </p:nvSpPr>
        <p:spPr>
          <a:xfrm>
            <a:off x="3489840" y="6000120"/>
            <a:ext cx="402876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https://www.ncbi.nlm.nih.gov/gene/5053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8" name="Picture 3"/>
          <p:cNvPicPr/>
          <p:nvPr/>
        </p:nvPicPr>
        <p:blipFill>
          <a:blip r:embed="rId1"/>
          <a:stretch/>
        </p:blipFill>
        <p:spPr>
          <a:xfrm>
            <a:off x="1520280" y="1152360"/>
            <a:ext cx="9270000" cy="440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itle 1"/>
          <p:cNvSpPr/>
          <p:nvPr/>
        </p:nvSpPr>
        <p:spPr>
          <a:xfrm>
            <a:off x="838080" y="372960"/>
            <a:ext cx="10513800" cy="6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 fontScale="85000" lnSpcReduction="19999"/>
          </a:bodyPr>
          <a:p>
            <a:pPr algn="ctr" defTabSz="914400">
              <a:lnSpc>
                <a:spcPct val="90000"/>
              </a:lnSpc>
            </a:pPr>
            <a:r>
              <a:rPr lang="en-US" sz="60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Variants in PAH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0" name="Picture 9"/>
          <p:cNvPicPr/>
          <p:nvPr/>
        </p:nvPicPr>
        <p:blipFill>
          <a:blip r:embed="rId1"/>
          <a:srcRect l="12758" t="17728" r="1261" b="6787"/>
          <a:stretch/>
        </p:blipFill>
        <p:spPr>
          <a:xfrm>
            <a:off x="1272240" y="1572120"/>
            <a:ext cx="9444600" cy="464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Rectangle 4"/>
          <p:cNvSpPr/>
          <p:nvPr/>
        </p:nvSpPr>
        <p:spPr>
          <a:xfrm>
            <a:off x="6593400" y="1434960"/>
            <a:ext cx="254880" cy="439128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TextBox 2"/>
          <p:cNvSpPr/>
          <p:nvPr/>
        </p:nvSpPr>
        <p:spPr>
          <a:xfrm>
            <a:off x="3854880" y="6221520"/>
            <a:ext cx="28562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 13rd A: 3A và 3-, het A/-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3"/>
          <p:cNvSpPr/>
          <p:nvPr/>
        </p:nvSpPr>
        <p:spPr>
          <a:xfrm>
            <a:off x="7117200" y="6224760"/>
            <a:ext cx="28562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 17th T: 3T và 3C, het T/C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5"/>
          <p:cNvSpPr/>
          <p:nvPr/>
        </p:nvSpPr>
        <p:spPr>
          <a:xfrm>
            <a:off x="7789680" y="994680"/>
            <a:ext cx="2856240" cy="64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 19th -: T và 5-, homo - =&gt; giải sai ko có nu nào hết!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6"/>
          <p:cNvSpPr/>
          <p:nvPr/>
        </p:nvSpPr>
        <p:spPr>
          <a:xfrm>
            <a:off x="9289440" y="2625480"/>
            <a:ext cx="2856240" cy="64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 22th -: 4G và 1-, homo G =&gt; giải sai ko có bị mất nu!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7"/>
          <p:cNvSpPr/>
          <p:nvPr/>
        </p:nvSpPr>
        <p:spPr>
          <a:xfrm>
            <a:off x="3486960" y="1119600"/>
            <a:ext cx="28562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 12th G: 6G, homo G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564120" y="365040"/>
            <a:ext cx="11072880" cy="75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Cơ sở dữ liệu ClinVar (Năm 2013) cho gen PAH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TextBox 6"/>
          <p:cNvSpPr/>
          <p:nvPr/>
        </p:nvSpPr>
        <p:spPr>
          <a:xfrm>
            <a:off x="2334960" y="6154200"/>
            <a:ext cx="697788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https://www.ncbi.nlm.nih.gov/clinvar?LinkName=gene_clinvar&amp;from_uid=5053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9" name="Picture 3"/>
          <p:cNvPicPr/>
          <p:nvPr/>
        </p:nvPicPr>
        <p:blipFill>
          <a:blip r:embed="rId1"/>
          <a:stretch/>
        </p:blipFill>
        <p:spPr>
          <a:xfrm>
            <a:off x="1273320" y="1539000"/>
            <a:ext cx="9289080" cy="4007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624240" y="249120"/>
            <a:ext cx="11245320" cy="866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Biến thể gây bệnh - Pathogenic variant in PAH</a:t>
            </a:r>
            <a:br>
              <a:rPr sz="2800"/>
            </a:b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NM_000277.3(PAH):c.971T&gt;A (p.Ile324Asn)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TextBox 6"/>
          <p:cNvSpPr/>
          <p:nvPr/>
        </p:nvSpPr>
        <p:spPr>
          <a:xfrm>
            <a:off x="1481040" y="5835960"/>
            <a:ext cx="6832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https://www.ncbi.nlm.nih.gov/clinvar/variation/2682170/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2" name="Picture 12"/>
          <p:cNvPicPr/>
          <p:nvPr/>
        </p:nvPicPr>
        <p:blipFill>
          <a:blip r:embed="rId1"/>
          <a:stretch/>
        </p:blipFill>
        <p:spPr>
          <a:xfrm>
            <a:off x="1058040" y="1692000"/>
            <a:ext cx="10130760" cy="4046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75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Các biến thể gây bệnh trên gen PAH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24" name="Content Placeholder 4"/>
          <p:cNvPicPr/>
          <p:nvPr/>
        </p:nvPicPr>
        <p:blipFill>
          <a:blip r:embed="rId1"/>
          <a:srcRect l="783" t="2779" r="1450" b="0"/>
          <a:stretch/>
        </p:blipFill>
        <p:spPr>
          <a:xfrm>
            <a:off x="1100160" y="1479240"/>
            <a:ext cx="9755280" cy="445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TextBox 6"/>
          <p:cNvSpPr/>
          <p:nvPr/>
        </p:nvSpPr>
        <p:spPr>
          <a:xfrm>
            <a:off x="1005480" y="6185160"/>
            <a:ext cx="68320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https://varsome.com/variant/hg38/chr12%3A102844430%3AA%3AT?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Content Placeholder 4"/>
          <p:cNvPicPr/>
          <p:nvPr/>
        </p:nvPicPr>
        <p:blipFill>
          <a:blip r:embed="rId1"/>
          <a:stretch/>
        </p:blipFill>
        <p:spPr>
          <a:xfrm>
            <a:off x="2882520" y="1044360"/>
            <a:ext cx="6801840" cy="52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TextBox 6"/>
          <p:cNvSpPr/>
          <p:nvPr/>
        </p:nvSpPr>
        <p:spPr>
          <a:xfrm>
            <a:off x="5671080" y="6361200"/>
            <a:ext cx="609696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https://www.genome.jp/pathway/hsa00360+5053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954360" y="158040"/>
            <a:ext cx="10513800" cy="75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PAH: chuyển hóa Phenylalanine thành Tyrosine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68160" y="361080"/>
            <a:ext cx="10828800" cy="109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PAH: chuyển hóa Phenylalanine thành Tyrosine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30" name="Content Placeholder 4"/>
          <p:cNvPicPr/>
          <p:nvPr/>
        </p:nvPicPr>
        <p:blipFill>
          <a:blip r:embed="rId1"/>
          <a:stretch/>
        </p:blipFill>
        <p:spPr>
          <a:xfrm>
            <a:off x="955800" y="1796400"/>
            <a:ext cx="10294560" cy="366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TextBox 2"/>
          <p:cNvSpPr/>
          <p:nvPr/>
        </p:nvSpPr>
        <p:spPr>
          <a:xfrm>
            <a:off x="1430640" y="5596920"/>
            <a:ext cx="92145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https://reactome.org/PathwayBrowser/#/R-HSA-8963691&amp;SEL=R-HSA-71118&amp;PATH=R-HSA-1430728,R-HSA-71291&amp;FLG=UniProt:P00439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6"/>
          <p:cNvSpPr/>
          <p:nvPr/>
        </p:nvSpPr>
        <p:spPr>
          <a:xfrm>
            <a:off x="0" y="5411880"/>
            <a:ext cx="12190320" cy="1505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1302480" y="155880"/>
            <a:ext cx="9435960" cy="83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Mối liên kết: Biến thể gen và bệnh di truyền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TextBox 2"/>
          <p:cNvSpPr/>
          <p:nvPr/>
        </p:nvSpPr>
        <p:spPr>
          <a:xfrm>
            <a:off x="574920" y="6316920"/>
            <a:ext cx="24159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10.5772/intechopen.71769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5" name="Picture 2" descr="Figure 1.Omics technologies have accelerated our understanding of the complex molecular interactions in biological systems."/>
          <p:cNvPicPr/>
          <p:nvPr/>
        </p:nvPicPr>
        <p:blipFill>
          <a:blip r:embed="rId1"/>
          <a:stretch/>
        </p:blipFill>
        <p:spPr>
          <a:xfrm>
            <a:off x="540000" y="1076400"/>
            <a:ext cx="10892160" cy="24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TextBox 8"/>
          <p:cNvSpPr/>
          <p:nvPr/>
        </p:nvSpPr>
        <p:spPr>
          <a:xfrm>
            <a:off x="559440" y="3658320"/>
            <a:ext cx="2415960" cy="1429200"/>
          </a:xfrm>
          <a:prstGeom prst="rect">
            <a:avLst/>
          </a:prstGeom>
          <a:noFill/>
          <a:ln cap="rnd" w="19050">
            <a:solidFill>
              <a:srgbClr val="4472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</a:t>
            </a:r>
            <a:r>
              <a:rPr lang="en-US" sz="18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Times New Roman"/>
              </a:rPr>
              <a:t>PAH gene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Ref  …A</a:t>
            </a:r>
            <a:r>
              <a:rPr lang="en-US" sz="2000" b="1" u="none" strike="noStrike">
                <a:solidFill>
                  <a:schemeClr val="accent6"/>
                </a:solidFill>
                <a:effectLst/>
                <a:uFillTx/>
                <a:latin typeface="Times New Roman"/>
              </a:rPr>
              <a:t>T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CGAT…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P1   …A</a:t>
            </a: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A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CGAT…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fr-FR" sz="11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NM_000277.3(PAH):c.971T&gt;A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9"/>
          <p:cNvSpPr/>
          <p:nvPr/>
        </p:nvSpPr>
        <p:spPr>
          <a:xfrm>
            <a:off x="3386880" y="3658320"/>
            <a:ext cx="2415960" cy="1429200"/>
          </a:xfrm>
          <a:prstGeom prst="rect">
            <a:avLst/>
          </a:prstGeom>
          <a:noFill/>
          <a:ln w="19050">
            <a:solidFill>
              <a:srgbClr val="4472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</a:t>
            </a:r>
            <a:r>
              <a:rPr lang="en-US" sz="1800" b="0" u="none" strike="noStrike">
                <a:solidFill>
                  <a:schemeClr val="dk1"/>
                </a:solidFill>
                <a:effectLst/>
                <a:highlight>
                  <a:srgbClr val="00FF00"/>
                </a:highlight>
                <a:uFillTx/>
                <a:latin typeface="Times New Roman"/>
              </a:rPr>
              <a:t>PAH mRNA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Ref  …A</a:t>
            </a:r>
            <a:r>
              <a:rPr lang="en-US" sz="2000" b="1" u="none" strike="noStrike">
                <a:solidFill>
                  <a:schemeClr val="accent6"/>
                </a:solidFill>
                <a:effectLst/>
                <a:uFillTx/>
                <a:latin typeface="Times New Roman"/>
              </a:rPr>
              <a:t>U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CGAU…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P1   …A</a:t>
            </a: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A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CGAU…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fr-FR" sz="11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NM_000277.3(PAH):c.971T&gt;A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10"/>
          <p:cNvSpPr/>
          <p:nvPr/>
        </p:nvSpPr>
        <p:spPr>
          <a:xfrm>
            <a:off x="6223680" y="3670920"/>
            <a:ext cx="2543040" cy="1429200"/>
          </a:xfrm>
          <a:prstGeom prst="rect">
            <a:avLst/>
          </a:prstGeom>
          <a:noFill/>
          <a:ln w="19050">
            <a:solidFill>
              <a:srgbClr val="4472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</a:t>
            </a:r>
            <a:r>
              <a:rPr lang="en-US" sz="1800" b="0" u="none" strike="noStrike">
                <a:solidFill>
                  <a:schemeClr val="dk1"/>
                </a:solidFill>
                <a:effectLst/>
                <a:highlight>
                  <a:srgbClr val="00FFFF"/>
                </a:highlight>
                <a:uFillTx/>
                <a:latin typeface="Times New Roman"/>
              </a:rPr>
              <a:t>PAH protein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Ref  …</a:t>
            </a:r>
            <a:r>
              <a:rPr lang="en-US" sz="2000" b="1" u="none" strike="noStrike">
                <a:solidFill>
                  <a:schemeClr val="accent6"/>
                </a:solidFill>
                <a:effectLst/>
                <a:uFillTx/>
                <a:latin typeface="Times New Roman"/>
              </a:rPr>
              <a:t>Ile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-Asp…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P1   …</a:t>
            </a: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Asn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-Asp…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fr-FR" sz="11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NM_000277.3(PAH):p.Ile324Asn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9" name="Picture 12"/>
          <p:cNvPicPr/>
          <p:nvPr/>
        </p:nvPicPr>
        <p:blipFill>
          <a:blip r:embed="rId2"/>
          <a:stretch/>
        </p:blipFill>
        <p:spPr>
          <a:xfrm>
            <a:off x="7058880" y="5388840"/>
            <a:ext cx="1982880" cy="138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TextBox 13"/>
          <p:cNvSpPr/>
          <p:nvPr/>
        </p:nvSpPr>
        <p:spPr>
          <a:xfrm>
            <a:off x="9079920" y="3651840"/>
            <a:ext cx="2166840" cy="1598760"/>
          </a:xfrm>
          <a:prstGeom prst="rect">
            <a:avLst/>
          </a:prstGeom>
          <a:noFill/>
          <a:ln w="19050">
            <a:solidFill>
              <a:srgbClr val="4472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50"/>
                </a:solidFill>
                <a:effectLst/>
                <a:uFillTx/>
                <a:latin typeface="Times New Roman"/>
              </a:rPr>
              <a:t>             PAH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Ref  Phe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Tyr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</a:t>
            </a: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PAH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P1   Phe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Tyr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Multiplication Sign 3"/>
          <p:cNvSpPr/>
          <p:nvPr/>
        </p:nvSpPr>
        <p:spPr>
          <a:xfrm>
            <a:off x="10041840" y="4717080"/>
            <a:ext cx="187920" cy="612360"/>
          </a:xfrm>
          <a:prstGeom prst="mathMultiply">
            <a:avLst>
              <a:gd name="adj1" fmla="val 2352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pic>
        <p:nvPicPr>
          <p:cNvPr id="242" name="Picture 4"/>
          <p:cNvPicPr/>
          <p:nvPr/>
        </p:nvPicPr>
        <p:blipFill>
          <a:blip r:embed="rId3"/>
          <a:stretch/>
        </p:blipFill>
        <p:spPr>
          <a:xfrm>
            <a:off x="4839120" y="5374800"/>
            <a:ext cx="1982880" cy="143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3" name="Content Placeholder 4"/>
          <p:cNvPicPr/>
          <p:nvPr/>
        </p:nvPicPr>
        <p:blipFill>
          <a:blip r:embed="rId4"/>
          <a:srcRect l="25956" t="0" r="25830" b="0"/>
          <a:stretch/>
        </p:blipFill>
        <p:spPr>
          <a:xfrm>
            <a:off x="9448560" y="5384520"/>
            <a:ext cx="1798200" cy="1328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Picture 1"/>
          <p:cNvPicPr/>
          <p:nvPr/>
        </p:nvPicPr>
        <p:blipFill>
          <a:blip r:embed="rId1"/>
          <a:stretch/>
        </p:blipFill>
        <p:spPr>
          <a:xfrm>
            <a:off x="262080" y="902160"/>
            <a:ext cx="11764800" cy="569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TextBox 2"/>
          <p:cNvSpPr/>
          <p:nvPr/>
        </p:nvSpPr>
        <p:spPr>
          <a:xfrm>
            <a:off x="536760" y="120600"/>
            <a:ext cx="10472760" cy="64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GB" sz="36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Trực quan hóa dữ liệu giải trình tự DNA bằng NGS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3"/>
          <p:cNvSpPr/>
          <p:nvPr/>
        </p:nvSpPr>
        <p:spPr>
          <a:xfrm>
            <a:off x="10522080" y="3539880"/>
            <a:ext cx="140616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GB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Sanger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729720" y="228240"/>
            <a:ext cx="10513800" cy="93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Dữ liệu hệ gen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48" name="Picture 2"/>
          <p:cNvPicPr/>
          <p:nvPr/>
        </p:nvPicPr>
        <p:blipFill>
          <a:blip r:embed="rId1"/>
          <a:stretch/>
        </p:blipFill>
        <p:spPr>
          <a:xfrm>
            <a:off x="342360" y="1537560"/>
            <a:ext cx="4395960" cy="453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TextBox 4"/>
          <p:cNvSpPr/>
          <p:nvPr/>
        </p:nvSpPr>
        <p:spPr>
          <a:xfrm>
            <a:off x="5296680" y="6375240"/>
            <a:ext cx="609696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https://www.youtube.com/watch?v=mDi-crPgjFw&amp;t=3s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0" name="Picture 5"/>
          <p:cNvPicPr/>
          <p:nvPr/>
        </p:nvPicPr>
        <p:blipFill>
          <a:blip r:embed="rId2"/>
          <a:stretch/>
        </p:blipFill>
        <p:spPr>
          <a:xfrm>
            <a:off x="4740120" y="1537560"/>
            <a:ext cx="4158720" cy="453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1" name="Picture 6"/>
          <p:cNvPicPr/>
          <p:nvPr/>
        </p:nvPicPr>
        <p:blipFill>
          <a:blip r:embed="rId3"/>
          <a:srcRect l="16819" t="0" r="9747" b="0"/>
          <a:stretch/>
        </p:blipFill>
        <p:spPr>
          <a:xfrm>
            <a:off x="9137880" y="1573920"/>
            <a:ext cx="2494800" cy="4531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730800" y="153000"/>
            <a:ext cx="10513800" cy="661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vi-VN" sz="36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Human Genome Variation: 1000 Genomes Project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TextBox 3"/>
          <p:cNvSpPr/>
          <p:nvPr/>
        </p:nvSpPr>
        <p:spPr>
          <a:xfrm>
            <a:off x="2481840" y="5957280"/>
            <a:ext cx="760536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The number of variant sites per genome</a:t>
            </a:r>
            <a:r>
              <a:rPr lang="vi-VN" sz="1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 of 1K human genomes project (2015)</a:t>
            </a:r>
            <a:br>
              <a:rPr sz="1400"/>
            </a:b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Kinh in Ho Chi Minh City,</a:t>
            </a:r>
            <a:r>
              <a:rPr lang="vi-VN" sz="1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Vietnam (KHV)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4" name="Group 25"/>
          <p:cNvGrpSpPr/>
          <p:nvPr/>
        </p:nvGrpSpPr>
        <p:grpSpPr>
          <a:xfrm>
            <a:off x="623520" y="1437120"/>
            <a:ext cx="10728720" cy="4520880"/>
            <a:chOff x="623520" y="1437120"/>
            <a:chExt cx="10728720" cy="4520880"/>
          </a:xfrm>
        </p:grpSpPr>
        <p:pic>
          <p:nvPicPr>
            <p:cNvPr id="255" name="Picture 22"/>
            <p:cNvPicPr/>
            <p:nvPr/>
          </p:nvPicPr>
          <p:blipFill>
            <a:blip r:embed="rId1"/>
            <a:stretch/>
          </p:blipFill>
          <p:spPr>
            <a:xfrm>
              <a:off x="623520" y="1437120"/>
              <a:ext cx="10728720" cy="45208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56" name="Rectangle 4"/>
            <p:cNvSpPr/>
            <p:nvPr/>
          </p:nvSpPr>
          <p:spPr>
            <a:xfrm>
              <a:off x="4865760" y="4049640"/>
              <a:ext cx="463680" cy="1655640"/>
            </a:xfrm>
            <a:prstGeom prst="rect">
              <a:avLst/>
            </a:prstGeom>
            <a:solidFill>
              <a:srgbClr val="D92FCD">
                <a:alpha val="10000"/>
              </a:srgbClr>
            </a:solidFill>
            <a:ln>
              <a:solidFill>
                <a:srgbClr val="1D31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57" name="TextBox 27"/>
          <p:cNvSpPr/>
          <p:nvPr/>
        </p:nvSpPr>
        <p:spPr>
          <a:xfrm>
            <a:off x="8066160" y="6537240"/>
            <a:ext cx="404388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https://bwlewis.github.io/1000_genomes_examples/PCA_overview.html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6"/>
          <p:cNvSpPr/>
          <p:nvPr/>
        </p:nvSpPr>
        <p:spPr>
          <a:xfrm>
            <a:off x="623520" y="6472800"/>
            <a:ext cx="609300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doi:10.1038/nature15393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9" name="Group 24"/>
          <p:cNvGrpSpPr/>
          <p:nvPr/>
        </p:nvGrpSpPr>
        <p:grpSpPr>
          <a:xfrm>
            <a:off x="2354760" y="970920"/>
            <a:ext cx="3965760" cy="2404800"/>
            <a:chOff x="2354760" y="970920"/>
            <a:chExt cx="3965760" cy="2404800"/>
          </a:xfrm>
        </p:grpSpPr>
        <p:pic>
          <p:nvPicPr>
            <p:cNvPr id="260" name="Picture 9"/>
            <p:cNvPicPr/>
            <p:nvPr/>
          </p:nvPicPr>
          <p:blipFill>
            <a:blip r:embed="rId2"/>
            <a:stretch/>
          </p:blipFill>
          <p:spPr>
            <a:xfrm>
              <a:off x="3149640" y="970920"/>
              <a:ext cx="3033720" cy="2404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1" name="TextBox 11"/>
            <p:cNvSpPr/>
            <p:nvPr/>
          </p:nvSpPr>
          <p:spPr>
            <a:xfrm>
              <a:off x="5361120" y="2599200"/>
              <a:ext cx="959400" cy="30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333333"/>
                  </a:solidFill>
                  <a:effectLst/>
                  <a:uFillTx/>
                  <a:latin typeface="Times New Roman"/>
                  <a:ea typeface="Abyssinica SIL"/>
                </a:rPr>
                <a:t>African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TextBox 14"/>
            <p:cNvSpPr/>
            <p:nvPr/>
          </p:nvSpPr>
          <p:spPr>
            <a:xfrm>
              <a:off x="2464920" y="1297440"/>
              <a:ext cx="2200680" cy="30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1" u="none" strike="noStrike">
                  <a:solidFill>
                    <a:schemeClr val="dk1"/>
                  </a:solidFill>
                  <a:effectLst/>
                  <a:uFillTx/>
                  <a:latin typeface="Times New Roman"/>
                  <a:ea typeface="Abyssinica SIL"/>
                </a:rPr>
                <a:t>Admixed American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TextBox 16"/>
            <p:cNvSpPr/>
            <p:nvPr/>
          </p:nvSpPr>
          <p:spPr>
            <a:xfrm>
              <a:off x="2354760" y="2802240"/>
              <a:ext cx="1335240" cy="30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333333"/>
                  </a:solidFill>
                  <a:effectLst/>
                  <a:uFillTx/>
                  <a:latin typeface="Times New Roman"/>
                  <a:ea typeface="Abyssinica SIL"/>
                </a:rPr>
                <a:t>East Asian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TextBox 19"/>
            <p:cNvSpPr/>
            <p:nvPr/>
          </p:nvSpPr>
          <p:spPr>
            <a:xfrm>
              <a:off x="4883400" y="1728360"/>
              <a:ext cx="1335240" cy="33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333333"/>
                  </a:solidFill>
                  <a:effectLst/>
                  <a:uFillTx/>
                  <a:latin typeface="Times New Roman"/>
                  <a:ea typeface="Abyssinica SIL"/>
                </a:rPr>
                <a:t>European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" name="TextBox 23"/>
            <p:cNvSpPr/>
            <p:nvPr/>
          </p:nvSpPr>
          <p:spPr>
            <a:xfrm>
              <a:off x="3892680" y="2977200"/>
              <a:ext cx="1547280" cy="30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333333"/>
                  </a:solidFill>
                  <a:effectLst/>
                  <a:uFillTx/>
                  <a:latin typeface="Times New Roman"/>
                  <a:ea typeface="Abyssinica SIL"/>
                </a:rPr>
                <a:t>South Asian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6" name="Rectangle 2"/>
          <p:cNvSpPr/>
          <p:nvPr/>
        </p:nvSpPr>
        <p:spPr>
          <a:xfrm>
            <a:off x="2258640" y="970920"/>
            <a:ext cx="4204440" cy="2499480"/>
          </a:xfrm>
          <a:prstGeom prst="rect">
            <a:avLst/>
          </a:prstGeom>
          <a:noFill/>
          <a:ln w="19050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730800" y="243000"/>
            <a:ext cx="10513800" cy="661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vi-VN" sz="44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Cancer Genome Somatic Variation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TextBox 3"/>
          <p:cNvSpPr/>
          <p:nvPr/>
        </p:nvSpPr>
        <p:spPr>
          <a:xfrm>
            <a:off x="603360" y="5267880"/>
            <a:ext cx="10981800" cy="64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Mutation</a:t>
            </a:r>
            <a:r>
              <a:rPr lang="vi-V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burden in 20 tumor types and relative contribution of different</a:t>
            </a:r>
            <a:r>
              <a:rPr lang="vi-V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mutational</a:t>
            </a:r>
            <a:r>
              <a:rPr lang="vi-V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processes.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For each tumor type, samples were divided into deciles on the</a:t>
            </a:r>
            <a:r>
              <a:rPr lang="vi-V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basis of their mutation </a:t>
            </a:r>
            <a:r>
              <a:rPr lang="vi-V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burden. (2015)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6"/>
          <p:cNvSpPr/>
          <p:nvPr/>
        </p:nvSpPr>
        <p:spPr>
          <a:xfrm>
            <a:off x="501120" y="6268680"/>
            <a:ext cx="60930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DOI: 10.1126/science.aab4082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0" name="Picture 5"/>
          <p:cNvPicPr/>
          <p:nvPr/>
        </p:nvPicPr>
        <p:blipFill>
          <a:blip r:embed="rId1"/>
          <a:stretch/>
        </p:blipFill>
        <p:spPr>
          <a:xfrm>
            <a:off x="820800" y="1266480"/>
            <a:ext cx="10548720" cy="375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" name="Rectangle 7"/>
          <p:cNvSpPr/>
          <p:nvPr/>
        </p:nvSpPr>
        <p:spPr>
          <a:xfrm>
            <a:off x="604080" y="1396080"/>
            <a:ext cx="586080" cy="724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Picture 2" descr="Genome sequencing costs"/>
          <p:cNvPicPr/>
          <p:nvPr/>
        </p:nvPicPr>
        <p:blipFill>
          <a:blip r:embed="rId1"/>
          <a:stretch/>
        </p:blipFill>
        <p:spPr>
          <a:xfrm>
            <a:off x="1170000" y="216360"/>
            <a:ext cx="9631440" cy="6423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3" name="Table 2"/>
          <p:cNvGraphicFramePr/>
          <p:nvPr/>
        </p:nvGraphicFramePr>
        <p:xfrm>
          <a:off x="522360" y="1805400"/>
          <a:ext cx="11116080" cy="4785480"/>
        </p:xfrm>
        <a:graphic>
          <a:graphicData uri="http://schemas.openxmlformats.org/drawingml/2006/table">
            <a:tbl>
              <a:tblPr/>
              <a:tblGrid>
                <a:gridCol w="1817640"/>
                <a:gridCol w="4214160"/>
                <a:gridCol w="5084640"/>
              </a:tblGrid>
              <a:tr h="370800">
                <a:tc>
                  <a:txBody>
                    <a:bodyPr anchor="t">
                      <a:noAutofit/>
                    </a:bodyPr>
                    <a:p>
                      <a:endParaRPr lang="en-US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Giải trình tự theo kiểu cũ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Giải trình tự thế hệ mời (NGS)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rgbClr val="0070C0"/>
                          </a:solidFill>
                          <a:effectLst/>
                          <a:uFillTx/>
                          <a:latin typeface="Times New Roman"/>
                        </a:rPr>
                        <a:t>Platform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Sanger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NovaSeq X Plus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70C0"/>
                          </a:solidFill>
                          <a:effectLst/>
                          <a:uFillTx/>
                          <a:latin typeface="Times New Roman"/>
                        </a:rPr>
                        <a:t>Số bộ gen người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12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AU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128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rgbClr val="0070C0"/>
                          </a:solidFill>
                          <a:effectLst/>
                          <a:uFillTx/>
                          <a:latin typeface="Times New Roman"/>
                        </a:rPr>
                        <a:t>Thời gian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~10 năm (1990 đến 2000)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~</a:t>
                      </a:r>
                      <a:r>
                        <a:rPr lang="en-GB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48 </a:t>
                      </a: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h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rgbClr val="0070C0"/>
                          </a:solidFill>
                          <a:effectLst/>
                          <a:uFillTx/>
                          <a:latin typeface="Times New Roman"/>
                        </a:rPr>
                        <a:t>Giá thành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~3 tỉ USD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~200 USD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rgbClr val="0070C0"/>
                          </a:solidFill>
                          <a:effectLst/>
                          <a:uFillTx/>
                          <a:latin typeface="Times New Roman"/>
                        </a:rPr>
                        <a:t>Chất lượng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Không xác định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Source Han Sans SC Regular"/>
                        </a:rPr>
                        <a:t>Q30 &gt; 85%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rgbClr val="0070C0"/>
                          </a:solidFill>
                          <a:effectLst/>
                          <a:uFillTx/>
                          <a:latin typeface="Times New Roman"/>
                        </a:rPr>
                        <a:t>Chứng nhận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Không xác định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IVD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74" name="Picture 2" descr="Toys: ABI Sanger 3500xl Genetic Analyzer - Sanger Sequencing"/>
          <p:cNvPicPr/>
          <p:nvPr/>
        </p:nvPicPr>
        <p:blipFill>
          <a:blip r:embed="rId1"/>
          <a:stretch/>
        </p:blipFill>
        <p:spPr>
          <a:xfrm>
            <a:off x="3279600" y="2278800"/>
            <a:ext cx="3079440" cy="2309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5" name="Picture 5"/>
          <p:cNvPicPr/>
          <p:nvPr/>
        </p:nvPicPr>
        <p:blipFill>
          <a:blip r:embed="rId2"/>
          <a:srcRect l="10047" t="33709" r="10205" b="34741"/>
          <a:stretch/>
        </p:blipFill>
        <p:spPr>
          <a:xfrm>
            <a:off x="6346440" y="223200"/>
            <a:ext cx="5337720" cy="1404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6" name="Picture 6"/>
          <p:cNvPicPr/>
          <p:nvPr/>
        </p:nvPicPr>
        <p:blipFill>
          <a:blip r:embed="rId3"/>
          <a:stretch/>
        </p:blipFill>
        <p:spPr>
          <a:xfrm>
            <a:off x="586440" y="54720"/>
            <a:ext cx="4332240" cy="174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7" name="Picture 2" descr="NovaSeq X sustainable packaging"/>
          <p:cNvPicPr/>
          <p:nvPr/>
        </p:nvPicPr>
        <p:blipFill>
          <a:blip r:embed="rId4"/>
          <a:stretch/>
        </p:blipFill>
        <p:spPr>
          <a:xfrm>
            <a:off x="8458200" y="2337840"/>
            <a:ext cx="2273400" cy="2273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Box 4"/>
          <p:cNvSpPr/>
          <p:nvPr/>
        </p:nvSpPr>
        <p:spPr>
          <a:xfrm>
            <a:off x="5712480" y="6503760"/>
            <a:ext cx="609696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https://www.genome.gov/about-genomics/fact-sheets/Genomic-Data-Science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9" name="Picture 4" descr="Genomic Data Science Fact Sheet"/>
          <p:cNvPicPr/>
          <p:nvPr/>
        </p:nvPicPr>
        <p:blipFill>
          <a:blip r:embed="rId1"/>
          <a:stretch/>
        </p:blipFill>
        <p:spPr>
          <a:xfrm>
            <a:off x="411840" y="30960"/>
            <a:ext cx="11428200" cy="6427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798480" y="1804320"/>
            <a:ext cx="108288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vi-VN" sz="66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Xin chân thành cảm ơn</a:t>
            </a:r>
            <a:br>
              <a:rPr sz="6600"/>
            </a:br>
            <a:r>
              <a:rPr lang="en-GB" sz="66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sự lắng nghe của quý phụ huynh và các tân sinh viên</a:t>
            </a:r>
            <a:r>
              <a:rPr lang="vi-VN" sz="66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!</a:t>
            </a:r>
            <a:endParaRPr lang="en-US" sz="6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subTitle"/>
          </p:nvPr>
        </p:nvSpPr>
        <p:spPr>
          <a:xfrm>
            <a:off x="1451880" y="4538160"/>
            <a:ext cx="9142200" cy="1653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Luu Phuc Loi, PhD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sng" strike="noStrike">
                <a:solidFill>
                  <a:schemeClr val="dk1"/>
                </a:solidFill>
                <a:effectLst/>
                <a:uFillTx/>
                <a:latin typeface="Times New Roman"/>
                <a:hlinkClick r:id="rId1"/>
              </a:rPr>
              <a:t>luu.p.loi@googlemail.com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Phone/Zalo: 0901802182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2" name=""/>
          <p:cNvPicPr/>
          <p:nvPr/>
        </p:nvPicPr>
        <p:blipFill>
          <a:blip r:embed="rId2"/>
          <a:stretch/>
        </p:blipFill>
        <p:spPr>
          <a:xfrm>
            <a:off x="228600" y="120600"/>
            <a:ext cx="1370160" cy="137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3" name=""/>
          <p:cNvPicPr/>
          <p:nvPr/>
        </p:nvPicPr>
        <p:blipFill>
          <a:blip r:embed="rId3"/>
          <a:srcRect l="17515" t="16570" r="19148" b="16760"/>
          <a:stretch/>
        </p:blipFill>
        <p:spPr>
          <a:xfrm>
            <a:off x="10395000" y="85680"/>
            <a:ext cx="1598760" cy="168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21090</TotalTime>
  <Application>LibreOffice/26.2.5.2$Linux_X86_64 LibreOffice_project/6d2b0d33fb0f5da53a12f98bed3e9973e56ff1f0</Application>
  <AppVersion>15.0000</AppVersion>
  <Words>2352</Words>
  <Paragraphs>300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2024-10-05T03:34:02Z</dcterms:created>
  <dc:creator>Lưu Phúc Lợi</dc:creator>
  <dc:description/>
  <dc:language>en-US</dc:language>
  <cp:lastModifiedBy/>
  <dcterms:modified xsi:type="dcterms:W3CDTF">2026-09-27T09:48:54Z</dcterms:modified>
  <cp:revision>320</cp:revision>
  <dc:subject/>
  <dc:title>Khoa Học Dữ Liệu Y Sinh Góc nhìn Đa Ngành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68</vt:i4>
  </property>
</Properties>
</file>