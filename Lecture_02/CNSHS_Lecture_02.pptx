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theme/theme3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9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2.xml" ContentType="application/vnd.openxmlformats-officedocument.presentationml.slide+xml"/>
  <Override PartName="/ppt/slides/slide25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slides/slide31.xml" ContentType="application/vnd.openxmlformats-officedocument.presentationml.slide+xml"/>
  <Override PartName="/ppt/slides/slide24.xml" ContentType="application/vnd.openxmlformats-officedocument.presentationml.slide+xml"/>
  <Override PartName="/ppt/slides/slide32.xml" ContentType="application/vnd.openxmlformats-officedocument.presentationml.slide+xml"/>
  <Override PartName="/ppt/slides/slide34.xml" ContentType="application/vnd.openxmlformats-officedocument.presentationml.slide+xml"/>
  <Override PartName="/ppt/slides/slide3.xml" ContentType="application/vnd.openxmlformats-officedocument.presentationml.slide+xml"/>
  <Override PartName="/ppt/slides/slide33.xml" ContentType="application/vnd.openxmlformats-officedocument.presentationml.slide+xml"/>
  <Override PartName="/ppt/slides/slide1.xml" ContentType="application/vnd.openxmlformats-officedocument.presentationml.slide+xml"/>
  <Override PartName="/ppt/slides/slide28.xml" ContentType="application/vnd.openxmlformats-officedocument.presentationml.slide+xml"/>
  <Override PartName="/ppt/slides/slide12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3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5" r:id="rId3"/>
    <p:sldMasterId id="2147483667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6.xml"/><Relationship Id="rId4" Type="http://schemas.openxmlformats.org/officeDocument/2006/relationships/slideMaster" Target="slideMasters/slideMaster17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slide" Target="slides/slide34.xml"/><Relationship Id="rId39" Type="http://schemas.openxmlformats.org/officeDocument/2006/relationships/slide" Target="slides/slide35.xml"/><Relationship Id="rId4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3800" cy="132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Click 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edit 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3800" cy="434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B38D4EC-13BE-4E9E-8DEC-AC85C999A0E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3800" cy="2850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6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Click to </a:t>
            </a: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edit </a:t>
            </a: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Master </a:t>
            </a: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title style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3800" cy="1498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Click to edit Master text styles</a:t>
            </a:r>
            <a:endParaRPr lang="en-US" sz="24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2B91142-E9F8-4C12-AD3F-486438396B6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3800" cy="132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79680" cy="434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79680" cy="434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6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FB3063F-90B4-4A25-B03D-CD50774B4CD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3800" cy="132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5920" cy="822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5920" cy="3682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1480" cy="822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1480" cy="3682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6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7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8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01D4EDF-7E9A-4C66-9529-A1DF42D6565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3800" cy="132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BE0756A-C48E-444C-8C05-40065C8D774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000" cy="3975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Fifth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2FC189E-8094-48FD-8064-1FFD71FA57D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000" cy="1143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000" cy="3975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Fifth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0480" cy="1598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Click to edit Master title style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0400" cy="487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0480" cy="3809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Click to edit Master text styles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71608F1-8DC6-468A-ADE9-0626ECC2B0C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0480" cy="1598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Click to edit Master title style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0400" cy="48718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7pPr>
          </a:lstStyle>
          <a:p>
            <a:pPr marL="432000"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4572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9144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13716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18288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2286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27432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0480" cy="3809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Click to edit Master text styles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6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1B04A2D4-A94E-4612-A57A-52487FBFD4E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200" cy="2385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90000"/>
              </a:lnSpc>
              <a:buNone/>
              <a:tabLst>
                <a:tab pos="0" algn="l"/>
              </a:tabLst>
              <a:defRPr lang="en-US" sz="6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Click to edit Master title style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26ADF1C-806D-4163-9E9C-36D5D1AC657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000" cy="3975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Fifth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200" cy="2385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90000"/>
              </a:lnSpc>
              <a:buNone/>
              <a:tabLst>
                <a:tab pos="0" algn="l"/>
              </a:tabLst>
              <a:defRPr lang="en-US" sz="6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Click to edit Master title style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C870B9A-23CE-48C4-BD6B-C09DA42CBC4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000" cy="3975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Fifth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200" cy="2385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90000"/>
              </a:lnSpc>
              <a:buNone/>
              <a:tabLst>
                <a:tab pos="0" algn="l"/>
              </a:tabLst>
              <a:defRPr lang="en-US" sz="6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Click to edit Master title style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EC5D876-6DE9-4FC4-B0C0-2A23410B9EB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000" cy="3975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Fifth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200" cy="2385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90000"/>
              </a:lnSpc>
              <a:buNone/>
              <a:tabLst>
                <a:tab pos="0" algn="l"/>
              </a:tabLst>
              <a:defRPr lang="en-US" sz="6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Click to edit Master title style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dt" idx="34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ftr" idx="35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sldNum" idx="36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3272C5C-A3BE-4E12-9A76-F07F194DDB6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000" cy="3975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Fifth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200" cy="2385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90000"/>
              </a:lnSpc>
              <a:buNone/>
              <a:tabLst>
                <a:tab pos="0" algn="l"/>
              </a:tabLst>
              <a:defRPr lang="en-US" sz="6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Click to edit Master title style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dt" idx="40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ftr" idx="41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PlaceHolder 4"/>
          <p:cNvSpPr>
            <a:spLocks noGrp="1"/>
          </p:cNvSpPr>
          <p:nvPr>
            <p:ph type="sldNum" idx="42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22C3B88-E538-4A92-B6B1-E87DB48E7D3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000" cy="3975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Fifth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200" cy="2385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914400">
              <a:lnSpc>
                <a:spcPct val="90000"/>
              </a:lnSpc>
              <a:buNone/>
              <a:tabLst>
                <a:tab pos="0" algn="l"/>
              </a:tabLst>
              <a:defRPr lang="en-US" sz="6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Click to edit Master title style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dt" idx="37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ftr" idx="38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 type="sldNum" idx="39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B05275A-096E-49EE-9147-5C75B36D567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000" cy="3975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7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Fourth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Fifth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3800" cy="1323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3800" cy="434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dt" idx="43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 type="ftr" idx="44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PlaceHolder 5"/>
          <p:cNvSpPr>
            <a:spLocks noGrp="1"/>
          </p:cNvSpPr>
          <p:nvPr>
            <p:ph type="sldNum" idx="45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C4A81ED-ED86-4062-932E-FB7C5C0CF6A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7280" cy="581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2440" cy="5810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defRPr>
            </a:lvl5pPr>
          </a:lstStyle>
          <a:p>
            <a:pPr marL="228600" indent="-2286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685800" lvl="1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1143000" lvl="2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1600200" lvl="3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  <a:p>
            <a:pPr marL="2057400" lvl="4" indent="-2286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 type="dt" idx="46"/>
          </p:nvPr>
        </p:nvSpPr>
        <p:spPr>
          <a:xfrm>
            <a:off x="8380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PlaceHolder 4"/>
          <p:cNvSpPr>
            <a:spLocks noGrp="1"/>
          </p:cNvSpPr>
          <p:nvPr>
            <p:ph type="ftr" idx="47"/>
          </p:nvPr>
        </p:nvSpPr>
        <p:spPr>
          <a:xfrm>
            <a:off x="4038480" y="6356520"/>
            <a:ext cx="41130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PlaceHolder 5"/>
          <p:cNvSpPr>
            <a:spLocks noGrp="1"/>
          </p:cNvSpPr>
          <p:nvPr>
            <p:ph type="sldNum" idx="48"/>
          </p:nvPr>
        </p:nvSpPr>
        <p:spPr>
          <a:xfrm>
            <a:off x="8610480" y="6356520"/>
            <a:ext cx="2741400" cy="363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324F877-9DB6-4C99-8FE5-99936BB588A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2200" cy="238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endParaRPr lang="en-US" sz="60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1000" cy="3975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</a:pPr>
            <a:endParaRPr lang="en-US" sz="2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9"/>
          </p:nvPr>
        </p:nvSpPr>
        <p:spPr/>
        <p:txBody>
          <a:bodyPr/>
          <a:p>
            <a:fld id="{4B6CE2A2-29A6-47C7-8125-F1F615379B95}" type="slidenum">
              <a:t>&lt;#&gt;</a:t>
            </a:fld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320" cy="1468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dt" idx="50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 type="ftr" idx="51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PlaceHolder 4"/>
          <p:cNvSpPr>
            <a:spLocks noGrp="1"/>
          </p:cNvSpPr>
          <p:nvPr>
            <p:ph type="sldNum" idx="52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Times New Roman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8AC1490-0FEC-43AE-A974-547F9BFF393B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Times New Roman"/>
                <a:ea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dt" idx="53"/>
          </p:nvPr>
        </p:nvSpPr>
        <p:spPr>
          <a:xfrm>
            <a:off x="45720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 type="ftr" idx="54"/>
          </p:nvPr>
        </p:nvSpPr>
        <p:spPr>
          <a:xfrm>
            <a:off x="3124080" y="6356520"/>
            <a:ext cx="289440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 type="sldNum" idx="55"/>
          </p:nvPr>
        </p:nvSpPr>
        <p:spPr>
          <a:xfrm>
            <a:off x="6553080" y="6356520"/>
            <a:ext cx="2132640" cy="363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Times New Roman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F8415E6F-6F75-4E86-8BDA-6B4136B6A02F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Times New Roman"/>
                <a:ea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Click to edit the outline text format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7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9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1523880" y="2013480"/>
            <a:ext cx="9142200" cy="60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 defTabSz="914400">
              <a:lnSpc>
                <a:spcPct val="9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000" cy="3975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  <a:lvl2pPr lvl="1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2pPr>
            <a:lvl3pPr lvl="2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3pPr>
            <a:lvl4pPr lvl="3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4pPr>
            <a:lvl5pPr lvl="4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5pPr>
            <a:lvl6pPr lvl="5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6pPr>
            <a:lvl7pPr lvl="6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7pPr>
          </a:lstStyle>
          <a:p>
            <a:pPr indent="-324000" algn="l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the outline text format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marL="864000" lvl="1" indent="-324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marL="1296000" lvl="2" indent="-288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Third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marL="1728000" lvl="3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Fourth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marL="2160000" lvl="4" indent="-216000" algn="l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Fifth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marL="2592000" lvl="5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Sixth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  <a:p>
            <a:pPr marL="3024000" lvl="6" indent="-216000" algn="l" defTabSz="9144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Seventh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 type="sldNum" idx="49"/>
          </p:nvPr>
        </p:nvSpPr>
        <p:spPr>
          <a:xfrm>
            <a:off x="11296440" y="6217560"/>
            <a:ext cx="729720" cy="523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vi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 Light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4879175-44A4-4E8B-AD16-9B3495ADC18F}" type="slidenum">
              <a:rPr lang="vi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 Light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2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2"/>
    <p:sldLayoutId id="2147483669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6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6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1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6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6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6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6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slideLayout" Target="../slideLayouts/slideLayout6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6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4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slideLayout" Target="../slideLayouts/slideLayout14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4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9.png"/><Relationship Id="rId3" Type="http://schemas.openxmlformats.org/officeDocument/2006/relationships/slideLayout" Target="../slideLayouts/slideLayout14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20.jpeg"/><Relationship Id="rId2" Type="http://schemas.openxmlformats.org/officeDocument/2006/relationships/image" Target="../media/image21.png"/><Relationship Id="rId3" Type="http://schemas.openxmlformats.org/officeDocument/2006/relationships/slideLayout" Target="../slideLayouts/slideLayout14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22.jpeg"/><Relationship Id="rId2" Type="http://schemas.openxmlformats.org/officeDocument/2006/relationships/slideLayout" Target="../slideLayouts/slideLayout14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18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slideLayout" Target="../slideLayouts/slideLayout18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slideLayout" Target="../slideLayouts/slideLayout19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slideLayout" Target="../slideLayouts/slideLayout19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slideLayout" Target="../slideLayouts/slideLayout18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slideLayout" Target="../slideLayouts/slideLayout1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slideLayout" Target="../slideLayouts/slideLayout18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slideLayout" Target="../slideLayouts/slideLayout18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slideLayout" Target="../slideLayouts/slideLayout18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slideLayout" Target="../slideLayouts/slideLayout19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38.jpeg"/><Relationship Id="rId2" Type="http://schemas.openxmlformats.org/officeDocument/2006/relationships/slideLayout" Target="../slideLayouts/slideLayout14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39.png"/><Relationship Id="rId2" Type="http://schemas.openxmlformats.org/officeDocument/2006/relationships/slideLayout" Target="../slideLayouts/slideLayout14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hyperlink" Target="mailto:luu.p.loi@googlemail.com" TargetMode="Externa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Box 14"/>
          <p:cNvSpPr/>
          <p:nvPr/>
        </p:nvSpPr>
        <p:spPr>
          <a:xfrm>
            <a:off x="1219320" y="1770120"/>
            <a:ext cx="9953280" cy="12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4000" b="1" u="none" spc="-48" strike="noStrike">
                <a:solidFill>
                  <a:srgbClr val="000000"/>
                </a:solidFill>
                <a:effectLst/>
                <a:uFillTx/>
                <a:latin typeface="Arial"/>
                <a:ea typeface="Montserrat"/>
              </a:rPr>
              <a:t>Bài 02: Giới thiệu</a:t>
            </a:r>
            <a:r>
              <a:rPr lang="en-US" sz="4000" b="1" u="none" spc="-48" strike="noStrike">
                <a:solidFill>
                  <a:srgbClr val="0070C0"/>
                </a:solidFill>
                <a:effectLst/>
                <a:uFillTx/>
                <a:latin typeface="Arial"/>
                <a:ea typeface="Montserrat"/>
              </a:rPr>
              <a:t> 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4000" b="1" u="none" spc="-48" strike="noStrike">
                <a:solidFill>
                  <a:srgbClr val="0070C0"/>
                </a:solidFill>
                <a:effectLst/>
                <a:uFillTx/>
                <a:latin typeface="Arial"/>
                <a:ea typeface="Montserrat"/>
              </a:rPr>
              <a:t>Nhập Môn Ngành Công Nghệ Sinh Học Số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Google Shape;55;p13"/>
          <p:cNvSpPr/>
          <p:nvPr/>
        </p:nvSpPr>
        <p:spPr>
          <a:xfrm>
            <a:off x="1136160" y="4043160"/>
            <a:ext cx="10005840" cy="217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0840" tIns="60840" rIns="60840" bIns="60840" anchor="ctr">
            <a:noAutofit/>
          </a:bodyPr>
          <a:p>
            <a:pPr algn="ctr" defTabSz="914400">
              <a:lnSpc>
                <a:spcPct val="140000"/>
              </a:lnSpc>
              <a:tabLst>
                <a:tab pos="0" algn="l"/>
              </a:tabLst>
            </a:pPr>
            <a:r>
              <a:rPr lang="fr-FR" sz="187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14.09.2026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40000"/>
              </a:lnSpc>
              <a:tabLst>
                <a:tab pos="0" algn="l"/>
              </a:tabLst>
            </a:pPr>
            <a:r>
              <a:rPr lang="fr-FR" sz="187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TS. Lưu Phúc Lợi 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40000"/>
              </a:lnSpc>
              <a:tabLst>
                <a:tab pos="0" algn="l"/>
              </a:tabLst>
            </a:pPr>
            <a:r>
              <a:rPr lang="fr-FR" sz="187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Email: loilp@bvtn.org.vn</a:t>
            </a:r>
            <a:br>
              <a:rPr sz="1870"/>
            </a:br>
            <a:r>
              <a:rPr lang="fr-FR" sz="1870" b="1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Zalo: 0901802182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40000"/>
              </a:lnSpc>
              <a:tabLst>
                <a:tab pos="0" algn="l"/>
              </a:tabLst>
            </a:pPr>
            <a:r>
              <a:rPr lang="fr-FR" sz="187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Viện Nghiên cứu Ứng dụng Khoa học Sức khỏe và Lão hóa – Bệnh viện Thống Nhất</a:t>
            </a:r>
            <a:endParaRPr lang="en-US" sz="1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Google Shape;59;p13" title="Profile.jpg"/>
          <p:cNvSpPr/>
          <p:nvPr/>
        </p:nvSpPr>
        <p:spPr>
          <a:xfrm>
            <a:off x="8628840" y="3422520"/>
            <a:ext cx="1914840" cy="1933920"/>
          </a:xfrm>
          <a:prstGeom prst="ellipse">
            <a:avLst/>
          </a:pr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6" name=""/>
          <p:cNvPicPr/>
          <p:nvPr/>
        </p:nvPicPr>
        <p:blipFill>
          <a:blip r:embed="rId2"/>
          <a:stretch/>
        </p:blipFill>
        <p:spPr>
          <a:xfrm>
            <a:off x="228600" y="120600"/>
            <a:ext cx="1370160" cy="1370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7" name=""/>
          <p:cNvPicPr/>
          <p:nvPr/>
        </p:nvPicPr>
        <p:blipFill>
          <a:blip r:embed="rId3"/>
          <a:srcRect l="17515" t="16570" r="19148" b="16760"/>
          <a:stretch/>
        </p:blipFill>
        <p:spPr>
          <a:xfrm>
            <a:off x="10395000" y="85680"/>
            <a:ext cx="1598760" cy="1683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Box 17"/>
          <p:cNvSpPr/>
          <p:nvPr/>
        </p:nvSpPr>
        <p:spPr>
          <a:xfrm>
            <a:off x="1219320" y="2346120"/>
            <a:ext cx="9953280" cy="12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4000" b="1" u="none" spc="-48" strike="noStrike">
                <a:solidFill>
                  <a:srgbClr val="000000"/>
                </a:solidFill>
                <a:effectLst/>
                <a:uFillTx/>
                <a:latin typeface="Arial"/>
                <a:ea typeface="Montserrat"/>
              </a:rPr>
              <a:t>Trân trọng chào đón các Tân Sinh Viên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4000" b="1" u="none" spc="-48" strike="noStrike">
                <a:solidFill>
                  <a:srgbClr val="0070C0"/>
                </a:solidFill>
                <a:effectLst/>
                <a:uFillTx/>
                <a:latin typeface="Arial"/>
                <a:ea typeface="Montserrat"/>
              </a:rPr>
              <a:t>Ngành Công Nghệ Sinh Học 2026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9" name=""/>
          <p:cNvPicPr/>
          <p:nvPr/>
        </p:nvPicPr>
        <p:blipFill>
          <a:blip r:embed="rId1"/>
          <a:stretch/>
        </p:blipFill>
        <p:spPr>
          <a:xfrm>
            <a:off x="228600" y="120600"/>
            <a:ext cx="1370160" cy="1370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0" name=""/>
          <p:cNvPicPr/>
          <p:nvPr/>
        </p:nvPicPr>
        <p:blipFill>
          <a:blip r:embed="rId2"/>
          <a:srcRect l="17515" t="16570" r="19148" b="16760"/>
          <a:stretch/>
        </p:blipFill>
        <p:spPr>
          <a:xfrm>
            <a:off x="10395000" y="85680"/>
            <a:ext cx="1598760" cy="1683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itle 1"/>
          <p:cNvSpPr/>
          <p:nvPr/>
        </p:nvSpPr>
        <p:spPr>
          <a:xfrm>
            <a:off x="957960" y="203040"/>
            <a:ext cx="10346760" cy="834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b">
            <a:normAutofit/>
          </a:bodyPr>
          <a:p>
            <a:pPr algn="ctr" defTabSz="914400">
              <a:lnSpc>
                <a:spcPct val="90000"/>
              </a:lnSpc>
            </a:pPr>
            <a:r>
              <a:rPr lang="en-US" sz="44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Nội dung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Content Placeholder 2"/>
          <p:cNvSpPr/>
          <p:nvPr/>
        </p:nvSpPr>
        <p:spPr>
          <a:xfrm>
            <a:off x="544320" y="1265760"/>
            <a:ext cx="10760760" cy="456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971640" lvl="1" indent="-514440" algn="just" defTabSz="914400">
              <a:lnSpc>
                <a:spcPct val="120000"/>
              </a:lnSpc>
              <a:spcBef>
                <a:spcPts val="499"/>
              </a:spcBef>
              <a:buClr>
                <a:srgbClr val="0070C0"/>
              </a:buClr>
              <a:buFont typeface="Calibri Light"/>
              <a:buAutoNum type="arabicPeriod"/>
            </a:pPr>
            <a:r>
              <a:rPr lang="en-GB" sz="2800" b="0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Giới thiệu d</a:t>
            </a:r>
            <a:r>
              <a:rPr lang="vi-VN" sz="2800" b="0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ự án </a:t>
            </a:r>
            <a:r>
              <a:rPr lang="vi-VN" sz="2800" b="1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BỘ GEN NGƯỜI</a:t>
            </a:r>
            <a:r>
              <a:rPr lang="vi-VN" sz="2800" b="0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 &amp; </a:t>
            </a:r>
            <a:r>
              <a:rPr lang="vi-VN" sz="2800" b="1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GIẢI TRÌNH TỰ GEN THẾ HỆ MỚI</a:t>
            </a:r>
            <a:r>
              <a:rPr lang="en-GB" sz="2800" b="1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 (NGS)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71640" lvl="1" indent="-514440" algn="just" defTabSz="914400">
              <a:lnSpc>
                <a:spcPct val="120000"/>
              </a:lnSpc>
              <a:spcBef>
                <a:spcPts val="499"/>
              </a:spcBef>
              <a:buClr>
                <a:srgbClr val="0070C0"/>
              </a:buClr>
              <a:buFont typeface="Calibri Light"/>
              <a:buAutoNum type="arabicPeriod"/>
            </a:pPr>
            <a:r>
              <a:rPr lang="en-US" sz="2800" b="0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Ví dụ mối quan hệ của </a:t>
            </a:r>
            <a:r>
              <a:rPr lang="en-US" sz="2800" b="1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BIẾN THỂ GEN</a:t>
            </a:r>
            <a:r>
              <a:rPr lang="en-US" sz="2800" b="0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 và </a:t>
            </a:r>
            <a:r>
              <a:rPr lang="en-US" sz="2800" b="1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BỆNH DI TRUYỀN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71640" lvl="1" indent="-514440" algn="just" defTabSz="914400">
              <a:lnSpc>
                <a:spcPct val="120000"/>
              </a:lnSpc>
              <a:spcBef>
                <a:spcPts val="499"/>
              </a:spcBef>
              <a:buClr>
                <a:srgbClr val="0070C0"/>
              </a:buClr>
              <a:buFont typeface="Calibri Light"/>
              <a:buAutoNum type="arabicPeriod"/>
            </a:pPr>
            <a:r>
              <a:rPr lang="en-US" sz="2800" b="0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Quy trình </a:t>
            </a:r>
            <a:r>
              <a:rPr lang="vi-VN" sz="2800" b="1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XÉT NGHIỆM </a:t>
            </a:r>
            <a:r>
              <a:rPr lang="en-US" sz="2800" b="0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gen bằng phương pháp giải trình tự thế hệ mới (NGS)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71640" lvl="1" indent="-514440" algn="just" defTabSz="914400">
              <a:lnSpc>
                <a:spcPct val="120000"/>
              </a:lnSpc>
              <a:spcBef>
                <a:spcPts val="499"/>
              </a:spcBef>
              <a:buClr>
                <a:srgbClr val="0070C0"/>
              </a:buClr>
              <a:buFont typeface="Calibri Light"/>
              <a:buAutoNum type="arabicPeriod"/>
            </a:pPr>
            <a:r>
              <a:rPr lang="en-US" sz="2800" b="0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Năm ví dụ về </a:t>
            </a:r>
            <a:r>
              <a:rPr lang="vi-VN" sz="2800" b="1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XÉT NGHIỆM </a:t>
            </a:r>
            <a:r>
              <a:rPr lang="en-US" sz="2800" b="0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gen cho </a:t>
            </a:r>
            <a:r>
              <a:rPr lang="vi-VN" sz="2800" b="1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BỆNH </a:t>
            </a:r>
            <a:r>
              <a:rPr lang="en-US" sz="2800" b="1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DI TRUYỀN </a:t>
            </a:r>
            <a:r>
              <a:rPr lang="en-US" sz="2800" b="0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và</a:t>
            </a:r>
            <a:r>
              <a:rPr lang="en-US" sz="2800" b="1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 </a:t>
            </a:r>
            <a:r>
              <a:rPr lang="vi-VN" sz="2800" b="1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UNG </a:t>
            </a:r>
            <a:r>
              <a:rPr lang="en-US" sz="2800" b="1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THƯ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71640" lvl="1" indent="-514440" algn="just" defTabSz="914400">
              <a:lnSpc>
                <a:spcPct val="120000"/>
              </a:lnSpc>
              <a:spcBef>
                <a:spcPts val="499"/>
              </a:spcBef>
              <a:buClr>
                <a:srgbClr val="0070C0"/>
              </a:buClr>
              <a:buFont typeface="Calibri Light"/>
              <a:buAutoNum type="arabicPeriod"/>
            </a:pPr>
            <a:r>
              <a:rPr lang="en-US" sz="2800" b="0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Xét nghiệm gen trong bệnh nhiễm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71640" lvl="1" indent="-514440" algn="just" defTabSz="914400">
              <a:lnSpc>
                <a:spcPct val="120000"/>
              </a:lnSpc>
              <a:spcBef>
                <a:spcPts val="499"/>
              </a:spcBef>
              <a:buClr>
                <a:srgbClr val="0070C0"/>
              </a:buClr>
              <a:buFont typeface="Calibri Light"/>
              <a:buAutoNum type="arabicPeriod"/>
            </a:pPr>
            <a:r>
              <a:rPr lang="en-US" sz="2800" b="0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Ứng dụng AI trong phân tích dữ liệu hình ảnh y khoa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1523880" y="380880"/>
            <a:ext cx="9142200" cy="838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1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Xin gởi lời cảm ơn trân thành đến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 type="subTitle"/>
          </p:nvPr>
        </p:nvSpPr>
        <p:spPr>
          <a:xfrm>
            <a:off x="934920" y="1708200"/>
            <a:ext cx="9142200" cy="4564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Đại học Đồng Tháp - Khoa Công Nghệ và Kỹ Thuật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0280" lvl="1" indent="-343080" algn="l" defTabSz="914400">
              <a:lnSpc>
                <a:spcPct val="15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Wingdings" charset="2"/>
              <a:buChar char=""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TS. Lê Uyển Thanh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0280" lvl="1" indent="-343080" algn="l" defTabSz="914400">
              <a:lnSpc>
                <a:spcPct val="15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Wingdings" charset="2"/>
              <a:buChar char=""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TS. Huỳnh Ngọc Tâm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0280" lvl="1" indent="-343080" algn="l" defTabSz="914400">
              <a:lnSpc>
                <a:spcPct val="15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Wingdings" charset="2"/>
              <a:buChar char=""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TS. Trần Đức Tường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Content Placeholder 3"/>
          <p:cNvSpPr/>
          <p:nvPr/>
        </p:nvSpPr>
        <p:spPr>
          <a:xfrm>
            <a:off x="387720" y="1785240"/>
            <a:ext cx="11101680" cy="340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457200" algn="ctr" defTabSz="914400">
              <a:lnSpc>
                <a:spcPct val="90000"/>
              </a:lnSpc>
              <a:spcBef>
                <a:spcPts val="499"/>
              </a:spcBef>
              <a:tabLst>
                <a:tab pos="0" algn="l"/>
              </a:tabLst>
            </a:pPr>
            <a:r>
              <a:rPr lang="en-US" sz="5400" b="1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Quy trình</a:t>
            </a:r>
            <a:r>
              <a:rPr lang="en-US" sz="5400" b="1" u="none" strike="noStrike">
                <a:solidFill>
                  <a:srgbClr val="7030A0"/>
                </a:solidFill>
                <a:effectLst/>
                <a:uFillTx/>
                <a:latin typeface="Times New Roman"/>
              </a:rPr>
              <a:t> </a:t>
            </a:r>
            <a:r>
              <a:rPr lang="vi-VN" sz="5400" b="1" u="none" strike="noStrike">
                <a:solidFill>
                  <a:schemeClr val="accent2"/>
                </a:solidFill>
                <a:effectLst/>
                <a:uFillTx/>
                <a:latin typeface="Times New Roman"/>
              </a:rPr>
              <a:t>XÉT NGHIỆM </a:t>
            </a:r>
            <a:r>
              <a:rPr lang="en-US" sz="5400" b="1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gen bằng phương pháp giải trình tự thế hệ mới (NGS)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Picture 1"/>
          <p:cNvPicPr/>
          <p:nvPr/>
        </p:nvPicPr>
        <p:blipFill>
          <a:blip r:embed="rId1"/>
          <a:srcRect l="0" t="14175" r="0" b="0"/>
          <a:stretch/>
        </p:blipFill>
        <p:spPr>
          <a:xfrm>
            <a:off x="518040" y="1909440"/>
            <a:ext cx="11336760" cy="4854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7" name="Title 1"/>
          <p:cNvSpPr/>
          <p:nvPr/>
        </p:nvSpPr>
        <p:spPr>
          <a:xfrm>
            <a:off x="653040" y="65520"/>
            <a:ext cx="9893160" cy="109224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b">
            <a:noAutofit/>
          </a:bodyPr>
          <a:p>
            <a:pPr algn="ctr" defTabSz="914400">
              <a:lnSpc>
                <a:spcPct val="90000"/>
              </a:lnSpc>
            </a:pPr>
            <a:r>
              <a:rPr lang="en-US" sz="3600" b="1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Các bước trong </a:t>
            </a:r>
            <a:r>
              <a:rPr lang="vi-VN" sz="3600" b="1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XÉT NGHIỆM </a:t>
            </a:r>
            <a:r>
              <a:rPr lang="en-US" sz="3600" b="1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gen 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90000"/>
              </a:lnSpc>
            </a:pPr>
            <a:r>
              <a:rPr lang="en-US" sz="3600" b="1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bằng phương pháp giải trình tự thế hệ mới (1)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8" name="Picture 4"/>
          <p:cNvPicPr/>
          <p:nvPr/>
        </p:nvPicPr>
        <p:blipFill>
          <a:blip r:embed="rId2"/>
          <a:srcRect l="6063" t="20634" r="2948" b="5634"/>
          <a:stretch/>
        </p:blipFill>
        <p:spPr>
          <a:xfrm>
            <a:off x="7238880" y="1406520"/>
            <a:ext cx="1931760" cy="12535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Picture 3"/>
          <p:cNvPicPr/>
          <p:nvPr/>
        </p:nvPicPr>
        <p:blipFill>
          <a:blip r:embed="rId1"/>
          <a:stretch/>
        </p:blipFill>
        <p:spPr>
          <a:xfrm>
            <a:off x="112680" y="149040"/>
            <a:ext cx="11955600" cy="6520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0" name="Title 1"/>
          <p:cNvSpPr/>
          <p:nvPr/>
        </p:nvSpPr>
        <p:spPr>
          <a:xfrm>
            <a:off x="711360" y="235080"/>
            <a:ext cx="10680840" cy="51876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b">
            <a:normAutofit fontScale="70000" lnSpcReduction="19999"/>
          </a:bodyPr>
          <a:p>
            <a:pPr algn="ctr" defTabSz="914400">
              <a:lnSpc>
                <a:spcPct val="90000"/>
              </a:lnSpc>
            </a:pPr>
            <a:r>
              <a:rPr lang="en-US" sz="3200" b="1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Các bước trong </a:t>
            </a:r>
            <a:r>
              <a:rPr lang="vi-VN" sz="3200" b="1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XÉT NGHIỆM </a:t>
            </a:r>
            <a:r>
              <a:rPr lang="en-US" sz="3200" b="1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gen bằng phương pháp giải trình tự thế hệ mới (2)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Title 1"/>
          <p:cNvSpPr/>
          <p:nvPr/>
        </p:nvSpPr>
        <p:spPr>
          <a:xfrm>
            <a:off x="732960" y="232560"/>
            <a:ext cx="10724400" cy="10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b">
            <a:noAutofit/>
          </a:bodyPr>
          <a:p>
            <a:pPr algn="ctr" defTabSz="914400">
              <a:lnSpc>
                <a:spcPct val="90000"/>
              </a:lnSpc>
            </a:pPr>
            <a:r>
              <a:rPr lang="en-US" sz="3200" b="1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Hội đồng Hệ Gen: phiên giải và hội chẩn những biến thể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90000"/>
              </a:lnSpc>
            </a:pPr>
            <a:r>
              <a:rPr lang="en-US" sz="3200" b="1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trong báo cáo kết quả NGS 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2" name="Picture 2"/>
          <p:cNvPicPr/>
          <p:nvPr/>
        </p:nvPicPr>
        <p:blipFill>
          <a:blip r:embed="rId1"/>
          <a:stretch/>
        </p:blipFill>
        <p:spPr>
          <a:xfrm>
            <a:off x="1770840" y="1825200"/>
            <a:ext cx="8285760" cy="3769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3" name="TextBox 7"/>
          <p:cNvSpPr/>
          <p:nvPr/>
        </p:nvSpPr>
        <p:spPr>
          <a:xfrm>
            <a:off x="2024280" y="5749200"/>
            <a:ext cx="7514640" cy="33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https://ggba.swiss/en/the-first-medical-genomics-center-opens-in-geneva/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extBox 2"/>
          <p:cNvSpPr/>
          <p:nvPr/>
        </p:nvSpPr>
        <p:spPr>
          <a:xfrm>
            <a:off x="771120" y="1965240"/>
            <a:ext cx="10647720" cy="143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12036"/>
              </a:lnSpc>
            </a:pPr>
            <a:r>
              <a:rPr lang="en-US" sz="9600" b="0" u="none" spc="-774" strike="noStrike">
                <a:solidFill>
                  <a:srgbClr val="E61818"/>
                </a:solidFill>
                <a:effectLst/>
                <a:uFillTx/>
                <a:latin typeface="Arial"/>
                <a:ea typeface="Lora"/>
              </a:rPr>
              <a:t>LIỆU CÓ GIÚP ÍCH?</a:t>
            </a:r>
            <a:endParaRPr lang="en-US" sz="9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Freeform 4"/>
          <p:cNvSpPr/>
          <p:nvPr/>
        </p:nvSpPr>
        <p:spPr>
          <a:xfrm>
            <a:off x="3098880" y="425880"/>
            <a:ext cx="5179680" cy="5281560"/>
          </a:xfrm>
          <a:custGeom>
            <a:avLst/>
            <a:gdLst>
              <a:gd name="textAreaLeft" fmla="*/ 0 w 5179680"/>
              <a:gd name="textAreaRight" fmla="*/ 5181480 w 5179680"/>
              <a:gd name="textAreaTop" fmla="*/ 0 h 5281560"/>
              <a:gd name="textAreaBottom" fmla="*/ 5283360 h 5281560"/>
            </a:gdLst>
            <a:ahLst/>
            <a:cxnLst/>
            <a:rect l="textAreaLeft" t="textAreaTop" r="textAreaRight" b="textAreaBottom"/>
            <a:pathLst>
              <a:path w="5939478" h="5979075">
                <a:moveTo>
                  <a:pt x="0" y="0"/>
                </a:moveTo>
                <a:lnTo>
                  <a:pt x="5939479" y="0"/>
                </a:lnTo>
                <a:lnTo>
                  <a:pt x="5939479" y="5979075"/>
                </a:lnTo>
                <a:lnTo>
                  <a:pt x="0" y="5979075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Box 5"/>
          <p:cNvSpPr/>
          <p:nvPr/>
        </p:nvSpPr>
        <p:spPr>
          <a:xfrm>
            <a:off x="3606840" y="5935680"/>
            <a:ext cx="4163760" cy="44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3370"/>
              </a:lnSpc>
            </a:pPr>
            <a:r>
              <a:rPr lang="en-US" sz="4270" b="0" u="none" spc="-286" strike="noStrike">
                <a:solidFill>
                  <a:srgbClr val="000000"/>
                </a:solidFill>
                <a:effectLst/>
                <a:uFillTx/>
                <a:latin typeface="Arial"/>
                <a:ea typeface="Lora"/>
              </a:rPr>
              <a:t>CRISPR-CAS9</a:t>
            </a:r>
            <a:endParaRPr lang="en-US" sz="4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Box 7"/>
          <p:cNvSpPr/>
          <p:nvPr/>
        </p:nvSpPr>
        <p:spPr>
          <a:xfrm>
            <a:off x="355680" y="6629400"/>
            <a:ext cx="3957840" cy="1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933"/>
              </a:lnSpc>
            </a:pPr>
            <a:r>
              <a:rPr lang="en-US" sz="670" b="0" u="none" spc="-6" strike="noStrike">
                <a:solidFill>
                  <a:srgbClr val="000000"/>
                </a:solidFill>
                <a:effectLst/>
                <a:uFillTx/>
                <a:latin typeface="Arial"/>
                <a:ea typeface="Lora"/>
              </a:rPr>
              <a:t>Illustration by Niklas Elmehed. Source: nobelprize.org.</a:t>
            </a:r>
            <a:endParaRPr lang="en-US" sz="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extBox 6"/>
          <p:cNvSpPr/>
          <p:nvPr/>
        </p:nvSpPr>
        <p:spPr>
          <a:xfrm>
            <a:off x="144720" y="6568560"/>
            <a:ext cx="4527000" cy="1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933"/>
              </a:lnSpc>
            </a:pPr>
            <a:r>
              <a:rPr lang="en-US" sz="670" b="0" u="none" spc="-6" strike="noStrike">
                <a:solidFill>
                  <a:srgbClr val="000000"/>
                </a:solidFill>
                <a:effectLst/>
                <a:uFillTx/>
                <a:latin typeface="Arial"/>
                <a:ea typeface="Lora"/>
              </a:rPr>
              <a:t>Gropman AL, Komor AC. doi: 10.1056/NEJMe2505721. Epub ahead of print. PMID: 40373054.</a:t>
            </a:r>
            <a:endParaRPr lang="en-US" sz="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Box 8"/>
          <p:cNvSpPr/>
          <p:nvPr/>
        </p:nvSpPr>
        <p:spPr>
          <a:xfrm>
            <a:off x="1117440" y="177480"/>
            <a:ext cx="883728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GB" sz="2660" b="1" u="none" strike="noStrike">
                <a:solidFill>
                  <a:srgbClr val="0070C0"/>
                </a:solidFill>
                <a:effectLst/>
                <a:uFillTx/>
                <a:latin typeface="Arial"/>
              </a:rPr>
              <a:t>New England Journal of Medicine (NEJM), May 2025</a:t>
            </a:r>
            <a:endParaRPr lang="en-US" sz="26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Freeform 2"/>
          <p:cNvSpPr/>
          <p:nvPr/>
        </p:nvSpPr>
        <p:spPr>
          <a:xfrm>
            <a:off x="1015920" y="838080"/>
            <a:ext cx="9700920" cy="5311080"/>
          </a:xfrm>
          <a:custGeom>
            <a:avLst/>
            <a:gdLst>
              <a:gd name="textAreaLeft" fmla="*/ 0 w 9700920"/>
              <a:gd name="textAreaRight" fmla="*/ 9702720 w 9700920"/>
              <a:gd name="textAreaTop" fmla="*/ 0 h 5311080"/>
              <a:gd name="textAreaBottom" fmla="*/ 5312880 h 5311080"/>
            </a:gdLst>
            <a:ahLst/>
            <a:cxnLst/>
            <a:rect l="textAreaLeft" t="textAreaTop" r="textAreaRight" b="textAreaBottom"/>
            <a:pathLst>
              <a:path w="7148899" h="8936124">
                <a:moveTo>
                  <a:pt x="0" y="0"/>
                </a:moveTo>
                <a:lnTo>
                  <a:pt x="7148899" y="0"/>
                </a:lnTo>
                <a:lnTo>
                  <a:pt x="7148899" y="8936124"/>
                </a:lnTo>
                <a:lnTo>
                  <a:pt x="0" y="8936124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TextBox 6"/>
          <p:cNvSpPr/>
          <p:nvPr/>
        </p:nvSpPr>
        <p:spPr>
          <a:xfrm>
            <a:off x="144720" y="6568560"/>
            <a:ext cx="4527000" cy="1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ts val="933"/>
              </a:lnSpc>
            </a:pPr>
            <a:r>
              <a:rPr lang="en-US" sz="670" b="0" u="none" spc="-6" strike="noStrike">
                <a:solidFill>
                  <a:srgbClr val="000000"/>
                </a:solidFill>
                <a:effectLst/>
                <a:uFillTx/>
                <a:latin typeface="Arial"/>
                <a:ea typeface="Lora"/>
              </a:rPr>
              <a:t>Gropman AL, Komor AC. doi: 10.1056/NEJMe2505721. Epub ahead of print. PMID: 40373054.</a:t>
            </a:r>
            <a:endParaRPr lang="en-US" sz="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2" name="Picture 4"/>
          <p:cNvPicPr/>
          <p:nvPr/>
        </p:nvPicPr>
        <p:blipFill>
          <a:blip r:embed="rId1"/>
          <a:stretch/>
        </p:blipFill>
        <p:spPr>
          <a:xfrm>
            <a:off x="1865160" y="448920"/>
            <a:ext cx="8126640" cy="5772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Freeform 2"/>
          <p:cNvSpPr/>
          <p:nvPr/>
        </p:nvSpPr>
        <p:spPr>
          <a:xfrm>
            <a:off x="2133720" y="263520"/>
            <a:ext cx="7355160" cy="6100200"/>
          </a:xfrm>
          <a:custGeom>
            <a:avLst/>
            <a:gdLst>
              <a:gd name="textAreaLeft" fmla="*/ 0 w 7355160"/>
              <a:gd name="textAreaRight" fmla="*/ 7356960 w 7355160"/>
              <a:gd name="textAreaTop" fmla="*/ 0 h 6100200"/>
              <a:gd name="textAreaBottom" fmla="*/ 6102000 h 6100200"/>
            </a:gdLst>
            <a:ahLst/>
            <a:cxnLst/>
            <a:rect l="textAreaLeft" t="textAreaTop" r="textAreaRight" b="textAreaBottom"/>
            <a:pathLst>
              <a:path w="11093825" h="9153113">
                <a:moveTo>
                  <a:pt x="0" y="0"/>
                </a:moveTo>
                <a:lnTo>
                  <a:pt x="11093826" y="0"/>
                </a:lnTo>
                <a:lnTo>
                  <a:pt x="11093826" y="9153112"/>
                </a:lnTo>
                <a:lnTo>
                  <a:pt x="0" y="9153112"/>
                </a:lnTo>
                <a:lnTo>
                  <a:pt x="0" y="0"/>
                </a:lnTo>
                <a:close/>
              </a:path>
            </a:pathLst>
          </a:custGeom>
          <a:blipFill rotWithShape="0">
            <a:blip r:embed="rId1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Box 3"/>
          <p:cNvSpPr/>
          <p:nvPr/>
        </p:nvSpPr>
        <p:spPr>
          <a:xfrm>
            <a:off x="1727280" y="6610320"/>
            <a:ext cx="8227800" cy="177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658"/>
              </a:lnSpc>
            </a:pPr>
            <a:r>
              <a:rPr lang="en-US" sz="670" b="0" u="none" spc="-45" strike="noStrike">
                <a:solidFill>
                  <a:srgbClr val="000000"/>
                </a:solidFill>
                <a:effectLst/>
                <a:uFillTx/>
                <a:latin typeface="Arial"/>
                <a:ea typeface="Lora"/>
              </a:rPr>
              <a:t>An infant who received a customized gene-editing treatment, shown here with researchers Kiran Musunuru (left) and Rebecca Ahrens-Nicklas, now needs less medicine to defuse a blood buildup of ammonia. . From "Gene-editing therapy made in just 6 months helps baby with life-threatening disease" by Jocelyn Kaiser, 2023. https://www.science.org/content/article/gene-editing-therapy-made-just-6-months-helps-baby-life-threatening-disease</a:t>
            </a:r>
            <a:endParaRPr lang="en-US" sz="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Box 4"/>
          <p:cNvSpPr/>
          <p:nvPr/>
        </p:nvSpPr>
        <p:spPr>
          <a:xfrm>
            <a:off x="7581960" y="754200"/>
            <a:ext cx="1746360" cy="45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GB" sz="2400" b="1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May 2025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extBox 2"/>
          <p:cNvSpPr/>
          <p:nvPr/>
        </p:nvSpPr>
        <p:spPr>
          <a:xfrm>
            <a:off x="228600" y="214560"/>
            <a:ext cx="1165716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2700" b="1" u="none" strike="noStrike">
                <a:solidFill>
                  <a:srgbClr val="0070C0"/>
                </a:solidFill>
                <a:effectLst/>
                <a:uFillTx/>
                <a:latin typeface="Arial"/>
              </a:rPr>
              <a:t>Tăng cholesterol máu gia đình (Familial Hypercholesterolemia - FH)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Box 4"/>
          <p:cNvSpPr/>
          <p:nvPr/>
        </p:nvSpPr>
        <p:spPr>
          <a:xfrm>
            <a:off x="1033920" y="789480"/>
            <a:ext cx="10152360" cy="4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200" b="0" u="none" strike="noStrike">
                <a:solidFill>
                  <a:srgbClr val="333333"/>
                </a:solidFill>
                <a:effectLst/>
                <a:uFillTx/>
                <a:latin typeface="Times New Roman"/>
              </a:rPr>
              <a:t>Bảng gen cho bệnh tăng cholesterol máu gia đình: APOB, LDLR, LDLRAP1 và PCSK9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8" name="Picture 2" descr="Figure 1"/>
          <p:cNvPicPr/>
          <p:nvPr/>
        </p:nvPicPr>
        <p:blipFill>
          <a:blip r:embed="rId1"/>
          <a:srcRect l="0" t="0" r="0" b="1409"/>
          <a:stretch/>
        </p:blipFill>
        <p:spPr>
          <a:xfrm>
            <a:off x="2139480" y="1418040"/>
            <a:ext cx="7426800" cy="5130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9" name="TextBox 5"/>
          <p:cNvSpPr/>
          <p:nvPr/>
        </p:nvSpPr>
        <p:spPr>
          <a:xfrm>
            <a:off x="7362000" y="6529320"/>
            <a:ext cx="3610440" cy="27252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VN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Calibri"/>
              </a:rPr>
              <a:t>Madelyn Hurwitz, Expert Analysis, May 27, 2025   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Picture 2"/>
          <p:cNvPicPr/>
          <p:nvPr/>
        </p:nvPicPr>
        <p:blipFill>
          <a:blip r:embed="rId1"/>
          <a:stretch/>
        </p:blipFill>
        <p:spPr>
          <a:xfrm>
            <a:off x="0" y="2067120"/>
            <a:ext cx="12190320" cy="3044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1" name="TextBox 3"/>
          <p:cNvSpPr/>
          <p:nvPr/>
        </p:nvSpPr>
        <p:spPr>
          <a:xfrm>
            <a:off x="681480" y="214560"/>
            <a:ext cx="10654200" cy="138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4400" b="1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Điều trị tăng cholesterol máu gia đình 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4000" b="1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(Familial Hypercholesterolemia - FH)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Box 5"/>
          <p:cNvSpPr/>
          <p:nvPr/>
        </p:nvSpPr>
        <p:spPr>
          <a:xfrm>
            <a:off x="4572000" y="5637240"/>
            <a:ext cx="746856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ts val="2081"/>
              </a:lnSpc>
            </a:pPr>
            <a:r>
              <a:rPr lang="en-GB" sz="1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Từ slide </a:t>
            </a:r>
            <a:r>
              <a:rPr lang="en-VN" sz="1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GS TS. Trương Quang Bình</a:t>
            </a:r>
            <a:r>
              <a:rPr lang="en-GB" sz="1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- </a:t>
            </a:r>
            <a:r>
              <a:rPr lang="en-VN" sz="1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ĐHYD TP Hồ Chí Minh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Content Placeholder 2"/>
          <p:cNvSpPr/>
          <p:nvPr/>
        </p:nvSpPr>
        <p:spPr>
          <a:xfrm>
            <a:off x="402480" y="1886760"/>
            <a:ext cx="11101680" cy="3402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457200" algn="ctr" defTabSz="914400">
              <a:lnSpc>
                <a:spcPct val="90000"/>
              </a:lnSpc>
              <a:spcBef>
                <a:spcPts val="499"/>
              </a:spcBef>
              <a:tabLst>
                <a:tab pos="0" algn="l"/>
              </a:tabLst>
            </a:pPr>
            <a:r>
              <a:rPr lang="en-US" sz="5400" b="1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Năm ví dụ về </a:t>
            </a:r>
            <a:r>
              <a:rPr lang="vi-VN" sz="5400" b="1" u="none" strike="noStrike">
                <a:solidFill>
                  <a:srgbClr val="FF0000"/>
                </a:solidFill>
                <a:effectLst/>
                <a:uFillTx/>
                <a:latin typeface="Times New Roman"/>
              </a:rPr>
              <a:t>XÉT NGHIỆM</a:t>
            </a:r>
            <a:r>
              <a:rPr lang="vi-VN" sz="5400" b="1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 </a:t>
            </a:r>
            <a:r>
              <a:rPr lang="en-US" sz="5400" b="1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gen </a:t>
            </a:r>
            <a:r>
              <a:rPr lang="en-US" sz="4800" b="1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cho </a:t>
            </a:r>
            <a:r>
              <a:rPr lang="vi-VN" sz="4800" b="1" u="none" strike="noStrike">
                <a:solidFill>
                  <a:srgbClr val="FF0000"/>
                </a:solidFill>
                <a:effectLst/>
                <a:uFillTx/>
                <a:latin typeface="Times New Roman"/>
              </a:rPr>
              <a:t>BỆNH </a:t>
            </a:r>
            <a:r>
              <a:rPr lang="en-US" sz="4800" b="1" u="none" strike="noStrike">
                <a:solidFill>
                  <a:srgbClr val="FF0000"/>
                </a:solidFill>
                <a:effectLst/>
                <a:uFillTx/>
                <a:latin typeface="Times New Roman"/>
              </a:rPr>
              <a:t>DI TRUYỀN</a:t>
            </a:r>
            <a:r>
              <a:rPr lang="en-US" sz="4800" b="1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 và </a:t>
            </a:r>
            <a:r>
              <a:rPr lang="vi-VN" sz="4800" b="1" u="none" strike="noStrike">
                <a:solidFill>
                  <a:srgbClr val="FF0000"/>
                </a:solidFill>
                <a:effectLst/>
                <a:uFillTx/>
                <a:latin typeface="Times New Roman"/>
              </a:rPr>
              <a:t>UNG </a:t>
            </a:r>
            <a:r>
              <a:rPr lang="en-US" sz="4800" b="1" u="none" strike="noStrike">
                <a:solidFill>
                  <a:srgbClr val="FF0000"/>
                </a:solidFill>
                <a:effectLst/>
                <a:uFillTx/>
                <a:latin typeface="Times New Roman"/>
              </a:rPr>
              <a:t>THƯ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itle 1"/>
          <p:cNvSpPr/>
          <p:nvPr/>
        </p:nvSpPr>
        <p:spPr>
          <a:xfrm>
            <a:off x="555840" y="299160"/>
            <a:ext cx="11028240" cy="100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b">
            <a:noAutofit/>
          </a:bodyPr>
          <a:p>
            <a:pPr algn="ctr" defTabSz="914400">
              <a:lnSpc>
                <a:spcPct val="120000"/>
              </a:lnSpc>
            </a:pPr>
            <a:r>
              <a:rPr lang="en-US" sz="3100" b="1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Ví dụ 1: Phát hiện sớm bệnh động kinh bằng xét nghiệm gen (1) Whole Exome Sequencing - WES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Box 8"/>
          <p:cNvSpPr/>
          <p:nvPr/>
        </p:nvSpPr>
        <p:spPr>
          <a:xfrm>
            <a:off x="6274440" y="6137280"/>
            <a:ext cx="3059640" cy="60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914400">
              <a:lnSpc>
                <a:spcPct val="107000"/>
              </a:lnSpc>
            </a:pPr>
            <a:r>
              <a:rPr lang="en-US" sz="1600" b="1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Abyssinica SIL"/>
              </a:rPr>
              <a:t>NGUYEN Thuy-Minh-Thu, MD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7000"/>
              </a:lnSpc>
            </a:pPr>
            <a:r>
              <a:rPr lang="vi-VN" sz="1600" b="1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Abyssinica SIL"/>
              </a:rPr>
              <a:t>Nguyen Le Duc Minh</a:t>
            </a:r>
            <a:r>
              <a:rPr lang="en-US" sz="1600" b="1" u="none" strike="noStrike">
                <a:solidFill>
                  <a:schemeClr val="lt1"/>
                </a:solidFill>
                <a:effectLst/>
                <a:uFillTx/>
                <a:latin typeface="Times New Roman"/>
                <a:ea typeface="Abyssinica SIL"/>
              </a:rPr>
              <a:t>, MD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6" name="Picture 1"/>
          <p:cNvPicPr/>
          <p:nvPr/>
        </p:nvPicPr>
        <p:blipFill>
          <a:blip r:embed="rId1"/>
          <a:srcRect l="0" t="1331" r="0" b="0"/>
          <a:stretch/>
        </p:blipFill>
        <p:spPr>
          <a:xfrm>
            <a:off x="1500480" y="1506240"/>
            <a:ext cx="9361440" cy="5050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Title 1"/>
          <p:cNvSpPr/>
          <p:nvPr/>
        </p:nvSpPr>
        <p:spPr>
          <a:xfrm>
            <a:off x="490320" y="366120"/>
            <a:ext cx="11093760" cy="100980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b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3000" b="1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Ví dụ 1: Phát hiện sớm bệnh động kinh bằng xét nghiệm gen (2)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3000" b="1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Whole Exome Sequencing - WES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8" name="Picture 9"/>
          <p:cNvPicPr/>
          <p:nvPr/>
        </p:nvPicPr>
        <p:blipFill>
          <a:blip r:embed="rId1"/>
          <a:stretch/>
        </p:blipFill>
        <p:spPr>
          <a:xfrm>
            <a:off x="234360" y="1840680"/>
            <a:ext cx="5980680" cy="3337200"/>
          </a:xfrm>
          <a:prstGeom prst="rect">
            <a:avLst/>
          </a:prstGeom>
          <a:noFill/>
          <a:ln w="9525">
            <a:solidFill>
              <a:srgbClr val="000000"/>
            </a:solidFill>
            <a:round/>
          </a:ln>
        </p:spPr>
      </p:pic>
      <p:sp>
        <p:nvSpPr>
          <p:cNvPr id="149" name="Rounded Rectangle 9"/>
          <p:cNvSpPr/>
          <p:nvPr/>
        </p:nvSpPr>
        <p:spPr>
          <a:xfrm>
            <a:off x="191880" y="2633760"/>
            <a:ext cx="6078960" cy="1258200"/>
          </a:xfrm>
          <a:prstGeom prst="roundRect">
            <a:avLst>
              <a:gd name="adj" fmla="val 16667"/>
            </a:avLst>
          </a:prstGeom>
          <a:noFill/>
          <a:ln w="50800">
            <a:solidFill>
              <a:srgbClr val="ED7D3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pic>
        <p:nvPicPr>
          <p:cNvPr id="150" name="Picture 11"/>
          <p:cNvPicPr/>
          <p:nvPr/>
        </p:nvPicPr>
        <p:blipFill>
          <a:blip r:embed="rId2"/>
          <a:stretch/>
        </p:blipFill>
        <p:spPr>
          <a:xfrm>
            <a:off x="6445080" y="1924560"/>
            <a:ext cx="5652720" cy="3219480"/>
          </a:xfrm>
          <a:prstGeom prst="rect">
            <a:avLst/>
          </a:prstGeom>
          <a:noFill/>
          <a:ln w="25400">
            <a:solidFill>
              <a:srgbClr val="70AD47"/>
            </a:solidFill>
            <a:round/>
          </a:ln>
        </p:spPr>
      </p:pic>
      <p:sp>
        <p:nvSpPr>
          <p:cNvPr id="151" name="Rounded Rectangle 11"/>
          <p:cNvSpPr/>
          <p:nvPr/>
        </p:nvSpPr>
        <p:spPr>
          <a:xfrm>
            <a:off x="6445080" y="4183560"/>
            <a:ext cx="5506200" cy="671760"/>
          </a:xfrm>
          <a:prstGeom prst="roundRect">
            <a:avLst>
              <a:gd name="adj" fmla="val 16667"/>
            </a:avLst>
          </a:prstGeom>
          <a:noFill/>
          <a:ln w="50800">
            <a:solidFill>
              <a:srgbClr val="ED7D3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Right Arrow 17"/>
          <p:cNvSpPr/>
          <p:nvPr/>
        </p:nvSpPr>
        <p:spPr>
          <a:xfrm>
            <a:off x="490320" y="3618000"/>
            <a:ext cx="6185520" cy="7452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D7D31"/>
          </a:solidFill>
          <a:ln>
            <a:solidFill>
              <a:srgbClr val="AF5C24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TextBox 14"/>
          <p:cNvSpPr/>
          <p:nvPr/>
        </p:nvSpPr>
        <p:spPr>
          <a:xfrm>
            <a:off x="4685760" y="5283000"/>
            <a:ext cx="3059640" cy="60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914400">
              <a:lnSpc>
                <a:spcPct val="107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Abyssinica SIL"/>
              </a:rPr>
              <a:t>NGUYEN Thuy-Minh-Thu, MD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r" defTabSz="914400">
              <a:lnSpc>
                <a:spcPct val="107000"/>
              </a:lnSpc>
            </a:pPr>
            <a:r>
              <a:rPr lang="vi-VN" sz="16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Abyssinica SIL"/>
              </a:rPr>
              <a:t>Nguyen Le Duc Minh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Abyssinica SIL"/>
              </a:rPr>
              <a:t>, MD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Title 1"/>
          <p:cNvSpPr/>
          <p:nvPr/>
        </p:nvSpPr>
        <p:spPr>
          <a:xfrm>
            <a:off x="1334520" y="285120"/>
            <a:ext cx="9973440" cy="100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b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3200" b="1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Ví dụ 2: Sàng lọc bệnh ung thư bằng xét nghiệm gen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en-US" sz="3200" b="1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Gene Panel – 53 genes của MGI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Box 8"/>
          <p:cNvSpPr/>
          <p:nvPr/>
        </p:nvSpPr>
        <p:spPr>
          <a:xfrm>
            <a:off x="5067360" y="5806800"/>
            <a:ext cx="3059640" cy="34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914400">
              <a:lnSpc>
                <a:spcPct val="107000"/>
              </a:lnSpc>
            </a:pPr>
            <a:r>
              <a:rPr lang="vi-VN" sz="16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Abyssinica SIL"/>
              </a:rPr>
              <a:t>Nguyen Le Duc Minh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Abyssinica SIL"/>
              </a:rPr>
              <a:t>, MD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6" name="Google Shape;148;p11"/>
          <p:cNvPicPr/>
          <p:nvPr/>
        </p:nvPicPr>
        <p:blipFill>
          <a:blip r:embed="rId1"/>
          <a:stretch/>
        </p:blipFill>
        <p:spPr>
          <a:xfrm>
            <a:off x="1066680" y="1927440"/>
            <a:ext cx="10056600" cy="3597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7" name="Google Shape;154;p11"/>
          <p:cNvSpPr/>
          <p:nvPr/>
        </p:nvSpPr>
        <p:spPr>
          <a:xfrm>
            <a:off x="9423360" y="1824480"/>
            <a:ext cx="1604880" cy="3700440"/>
          </a:xfrm>
          <a:prstGeom prst="rect">
            <a:avLst/>
          </a:prstGeom>
          <a:noFill/>
          <a:ln w="38100">
            <a:solidFill>
              <a:srgbClr val="BF9000"/>
            </a:solidFill>
            <a:prstDash val="dash"/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Title 1"/>
          <p:cNvSpPr/>
          <p:nvPr/>
        </p:nvSpPr>
        <p:spPr>
          <a:xfrm>
            <a:off x="552960" y="188640"/>
            <a:ext cx="10900440" cy="102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b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3200" b="1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Ví dụ 3: Hỗ trợ điều trị bệnh ung thư vú bằng xét nghiệm gen Gene Panel BRCA1 và BRCA2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9" name="Picture 1"/>
          <p:cNvPicPr/>
          <p:nvPr/>
        </p:nvPicPr>
        <p:blipFill>
          <a:blip r:embed="rId1"/>
          <a:srcRect l="10737" t="18959" r="6348" b="26937"/>
          <a:stretch/>
        </p:blipFill>
        <p:spPr>
          <a:xfrm>
            <a:off x="5268600" y="1451520"/>
            <a:ext cx="5909040" cy="4615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0" name="Rectangle 3"/>
          <p:cNvSpPr/>
          <p:nvPr/>
        </p:nvSpPr>
        <p:spPr>
          <a:xfrm>
            <a:off x="4972680" y="1364400"/>
            <a:ext cx="1231920" cy="2883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pic>
        <p:nvPicPr>
          <p:cNvPr id="161" name="Picture 4"/>
          <p:cNvPicPr/>
          <p:nvPr/>
        </p:nvPicPr>
        <p:blipFill>
          <a:blip r:embed="rId2"/>
          <a:srcRect l="17494" t="14821" r="17494" b="11121"/>
          <a:stretch/>
        </p:blipFill>
        <p:spPr>
          <a:xfrm>
            <a:off x="1059480" y="3272760"/>
            <a:ext cx="3514320" cy="266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2" name="TextBox 9"/>
          <p:cNvSpPr/>
          <p:nvPr/>
        </p:nvSpPr>
        <p:spPr>
          <a:xfrm>
            <a:off x="965520" y="1583280"/>
            <a:ext cx="4011480" cy="147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just" defTabSz="914400">
              <a:lnSpc>
                <a:spcPct val="100000"/>
              </a:lnSpc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Abyssinica SIL"/>
              </a:rPr>
              <a:t>Olaparib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Abyssinica SIL"/>
              </a:rPr>
              <a:t> (AstraZeneca)</a:t>
            </a:r>
            <a:r>
              <a:rPr lang="vi-VN" sz="1800" b="0" u="none" strike="noStrike">
                <a:solidFill>
                  <a:schemeClr val="dk1"/>
                </a:solidFill>
                <a:effectLst/>
                <a:uFillTx/>
                <a:latin typeface="Times New Roman"/>
                <a:ea typeface="Abyssinica SIL"/>
              </a:rPr>
              <a:t> là một loại thuốc dùng để duy trì điều trị ung thư vú, buồng trứng, tuyến tiền liệt và tuyến tụy giai đoạn tiến triển có đột biến BRCA ở người lớn.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Title 1"/>
          <p:cNvSpPr/>
          <p:nvPr/>
        </p:nvSpPr>
        <p:spPr>
          <a:xfrm>
            <a:off x="1037160" y="206640"/>
            <a:ext cx="9973440" cy="52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b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3200" b="1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Ví dụ 4: Sàng lọc phôi trong hỗ trợ sinh sản IVF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4" name="Picture 2" descr="Figure 5. Embgenix plot showing result for genomic DNA sample containing trisomy of Chr18."/>
          <p:cNvPicPr/>
          <p:nvPr/>
        </p:nvPicPr>
        <p:blipFill>
          <a:blip r:embed="rId1"/>
          <a:stretch/>
        </p:blipFill>
        <p:spPr>
          <a:xfrm>
            <a:off x="1808280" y="3732840"/>
            <a:ext cx="8422920" cy="2048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5" name="TextBox 5"/>
          <p:cNvSpPr/>
          <p:nvPr/>
        </p:nvSpPr>
        <p:spPr>
          <a:xfrm>
            <a:off x="2071080" y="5773320"/>
            <a:ext cx="7777800" cy="39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Mẫu phôi có 3 nhiễm sắc thể 18 (trisomy) trong DNA hệ gen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Box 7"/>
          <p:cNvSpPr/>
          <p:nvPr/>
        </p:nvSpPr>
        <p:spPr>
          <a:xfrm>
            <a:off x="5662440" y="6529320"/>
            <a:ext cx="610884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https://www.takarabio.com/learning-centers/next-generation-sequencing/technical-notes/reproductive-health-technologies/embgenix-pgt-a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7" name="Picture 10"/>
          <p:cNvPicPr/>
          <p:nvPr/>
        </p:nvPicPr>
        <p:blipFill>
          <a:blip r:embed="rId2"/>
          <a:srcRect l="0" t="0" r="0" b="1166"/>
          <a:stretch/>
        </p:blipFill>
        <p:spPr>
          <a:xfrm>
            <a:off x="4089240" y="1138320"/>
            <a:ext cx="4011840" cy="2218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8" name="TextBox 12"/>
          <p:cNvSpPr/>
          <p:nvPr/>
        </p:nvSpPr>
        <p:spPr>
          <a:xfrm>
            <a:off x="699120" y="2048760"/>
            <a:ext cx="340128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1" u="none" strike="noStrike">
                <a:solidFill>
                  <a:srgbClr val="7030A0"/>
                </a:solidFill>
                <a:effectLst/>
                <a:uFillTx/>
                <a:latin typeface="Times New Roman"/>
              </a:rPr>
              <a:t>Xét nghiệm tiền làm tổ PGT-A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Box 14"/>
          <p:cNvSpPr/>
          <p:nvPr/>
        </p:nvSpPr>
        <p:spPr>
          <a:xfrm>
            <a:off x="8809200" y="2868480"/>
            <a:ext cx="284580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10.3390/genes14112095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Title 1"/>
          <p:cNvSpPr/>
          <p:nvPr/>
        </p:nvSpPr>
        <p:spPr>
          <a:xfrm>
            <a:off x="438120" y="406800"/>
            <a:ext cx="11313360" cy="70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b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3200" b="1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Ví dụ 5: Sàng lọc bất thường nhiễm sắc thể ở thai nhi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Rectangle 3"/>
          <p:cNvSpPr/>
          <p:nvPr/>
        </p:nvSpPr>
        <p:spPr>
          <a:xfrm>
            <a:off x="4972680" y="1364400"/>
            <a:ext cx="1231920" cy="2883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TextBox 1"/>
          <p:cNvSpPr/>
          <p:nvPr/>
        </p:nvSpPr>
        <p:spPr>
          <a:xfrm>
            <a:off x="6723360" y="6090840"/>
            <a:ext cx="5295960" cy="33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https://www.advancedwomensimaging.com.au/nipt/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3" name="Picture 4"/>
          <p:cNvPicPr/>
          <p:nvPr/>
        </p:nvPicPr>
        <p:blipFill>
          <a:blip r:embed="rId1"/>
          <a:stretch/>
        </p:blipFill>
        <p:spPr>
          <a:xfrm>
            <a:off x="596160" y="1654560"/>
            <a:ext cx="11155320" cy="3637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Picture 15"/>
          <p:cNvPicPr/>
          <p:nvPr/>
        </p:nvPicPr>
        <p:blipFill>
          <a:blip r:embed="rId1"/>
          <a:stretch/>
        </p:blipFill>
        <p:spPr>
          <a:xfrm>
            <a:off x="0" y="29160"/>
            <a:ext cx="12191040" cy="6798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Picture 16"/>
          <p:cNvPicPr/>
          <p:nvPr/>
        </p:nvPicPr>
        <p:blipFill>
          <a:blip r:embed="rId1"/>
          <a:stretch/>
        </p:blipFill>
        <p:spPr>
          <a:xfrm>
            <a:off x="25920" y="0"/>
            <a:ext cx="12138840" cy="6856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Picture 17"/>
          <p:cNvPicPr/>
          <p:nvPr/>
        </p:nvPicPr>
        <p:blipFill>
          <a:blip r:embed="rId1"/>
          <a:stretch/>
        </p:blipFill>
        <p:spPr>
          <a:xfrm>
            <a:off x="0" y="189360"/>
            <a:ext cx="12191040" cy="6478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Picture 25"/>
          <p:cNvPicPr/>
          <p:nvPr/>
        </p:nvPicPr>
        <p:blipFill>
          <a:blip r:embed="rId1"/>
          <a:stretch/>
        </p:blipFill>
        <p:spPr>
          <a:xfrm>
            <a:off x="1662120" y="0"/>
            <a:ext cx="8866440" cy="6856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Picture 26"/>
          <p:cNvPicPr/>
          <p:nvPr/>
        </p:nvPicPr>
        <p:blipFill>
          <a:blip r:embed="rId1"/>
          <a:stretch/>
        </p:blipFill>
        <p:spPr>
          <a:xfrm>
            <a:off x="262440" y="0"/>
            <a:ext cx="11666160" cy="6856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Picture 27"/>
          <p:cNvPicPr/>
          <p:nvPr/>
        </p:nvPicPr>
        <p:blipFill>
          <a:blip r:embed="rId1"/>
          <a:stretch/>
        </p:blipFill>
        <p:spPr>
          <a:xfrm>
            <a:off x="12960" y="0"/>
            <a:ext cx="12165120" cy="6856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0" name="Rectangle 5"/>
          <p:cNvSpPr/>
          <p:nvPr/>
        </p:nvSpPr>
        <p:spPr>
          <a:xfrm>
            <a:off x="9867240" y="101520"/>
            <a:ext cx="949320" cy="94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AU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Rectangle 1"/>
          <p:cNvSpPr/>
          <p:nvPr/>
        </p:nvSpPr>
        <p:spPr>
          <a:xfrm>
            <a:off x="9867240" y="101520"/>
            <a:ext cx="949320" cy="94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AU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182" name="Picture 28"/>
          <p:cNvPicPr/>
          <p:nvPr/>
        </p:nvPicPr>
        <p:blipFill>
          <a:blip r:embed="rId1"/>
          <a:stretch/>
        </p:blipFill>
        <p:spPr>
          <a:xfrm>
            <a:off x="0" y="542520"/>
            <a:ext cx="12191040" cy="5771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Rectangle 9"/>
          <p:cNvSpPr/>
          <p:nvPr/>
        </p:nvSpPr>
        <p:spPr>
          <a:xfrm>
            <a:off x="9867240" y="101520"/>
            <a:ext cx="949320" cy="94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AU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184" name="Picture 29"/>
          <p:cNvPicPr/>
          <p:nvPr/>
        </p:nvPicPr>
        <p:blipFill>
          <a:blip r:embed="rId1"/>
          <a:stretch/>
        </p:blipFill>
        <p:spPr>
          <a:xfrm>
            <a:off x="0" y="20520"/>
            <a:ext cx="12191040" cy="6815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Rectangle 10"/>
          <p:cNvSpPr/>
          <p:nvPr/>
        </p:nvSpPr>
        <p:spPr>
          <a:xfrm>
            <a:off x="9867240" y="101520"/>
            <a:ext cx="949320" cy="943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AU" sz="1400" b="0" u="none" strike="noStrike">
              <a:solidFill>
                <a:schemeClr val="lt1"/>
              </a:solidFill>
              <a:effectLst/>
              <a:uFillTx/>
              <a:latin typeface="Arial"/>
            </a:endParaRPr>
          </a:p>
        </p:txBody>
      </p:sp>
      <p:pic>
        <p:nvPicPr>
          <p:cNvPr id="186" name="Picture 30"/>
          <p:cNvPicPr/>
          <p:nvPr/>
        </p:nvPicPr>
        <p:blipFill>
          <a:blip r:embed="rId1"/>
          <a:stretch/>
        </p:blipFill>
        <p:spPr>
          <a:xfrm>
            <a:off x="0" y="6480"/>
            <a:ext cx="12191040" cy="6844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236;p24" descr="image.png"/>
          <p:cNvPicPr/>
          <p:nvPr/>
        </p:nvPicPr>
        <p:blipFill>
          <a:blip r:embed="rId1"/>
          <a:stretch/>
        </p:blipFill>
        <p:spPr>
          <a:xfrm>
            <a:off x="571680" y="1724400"/>
            <a:ext cx="3491640" cy="4560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8" name="Google Shape;237;p 2" descr="image.png"/>
          <p:cNvPicPr/>
          <p:nvPr/>
        </p:nvPicPr>
        <p:blipFill>
          <a:blip r:embed="rId2"/>
          <a:stretch/>
        </p:blipFill>
        <p:spPr>
          <a:xfrm>
            <a:off x="4349880" y="1724400"/>
            <a:ext cx="3491640" cy="4560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9" name="Google Shape;238;p 2" descr="image.png"/>
          <p:cNvPicPr/>
          <p:nvPr/>
        </p:nvPicPr>
        <p:blipFill>
          <a:blip r:embed="rId3"/>
          <a:stretch/>
        </p:blipFill>
        <p:spPr>
          <a:xfrm>
            <a:off x="8128080" y="1724400"/>
            <a:ext cx="3491640" cy="4560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0" name="Google Shape;239;p 2" descr="image.png"/>
          <p:cNvPicPr/>
          <p:nvPr/>
        </p:nvPicPr>
        <p:blipFill>
          <a:blip r:embed="rId4"/>
          <a:stretch/>
        </p:blipFill>
        <p:spPr>
          <a:xfrm>
            <a:off x="2079720" y="2105640"/>
            <a:ext cx="475200" cy="47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1" name="Google Shape;240;p 2"/>
          <p:cNvSpPr/>
          <p:nvPr/>
        </p:nvSpPr>
        <p:spPr>
          <a:xfrm>
            <a:off x="884160" y="2950560"/>
            <a:ext cx="28659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E293B"/>
                </a:solidFill>
                <a:effectLst/>
                <a:uFillTx/>
                <a:latin typeface="Times New Roman"/>
                <a:ea typeface="Lato"/>
              </a:rPr>
              <a:t>Sàng lọc không xâm lấn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Google Shape;241;p 2"/>
          <p:cNvSpPr/>
          <p:nvPr/>
        </p:nvSpPr>
        <p:spPr>
          <a:xfrm>
            <a:off x="952560" y="3348000"/>
            <a:ext cx="2729520" cy="91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1E293B"/>
                </a:solidFill>
                <a:effectLst/>
                <a:uFillTx/>
                <a:latin typeface="Times New Roman"/>
                <a:ea typeface="Lato"/>
              </a:rPr>
              <a:t>Phân tích ADN tự do của thai nhi trong máu mẹ để tìm lệch bội.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3" name="Google Shape;242;p 2" descr="image.png"/>
          <p:cNvPicPr/>
          <p:nvPr/>
        </p:nvPicPr>
        <p:blipFill>
          <a:blip r:embed="rId5"/>
          <a:stretch/>
        </p:blipFill>
        <p:spPr>
          <a:xfrm>
            <a:off x="5886360" y="2105640"/>
            <a:ext cx="417960" cy="47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4" name="Google Shape;243;p 2"/>
          <p:cNvSpPr/>
          <p:nvPr/>
        </p:nvSpPr>
        <p:spPr>
          <a:xfrm>
            <a:off x="4662360" y="2950560"/>
            <a:ext cx="28659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E293B"/>
                </a:solidFill>
                <a:effectLst/>
                <a:uFillTx/>
                <a:latin typeface="Times New Roman"/>
                <a:ea typeface="Lato"/>
              </a:rPr>
              <a:t>Công nghệ NGS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Google Shape;244;p 2"/>
          <p:cNvSpPr/>
          <p:nvPr/>
        </p:nvSpPr>
        <p:spPr>
          <a:xfrm>
            <a:off x="4730760" y="3348000"/>
            <a:ext cx="2729520" cy="91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1E293B"/>
                </a:solidFill>
                <a:effectLst/>
                <a:uFillTx/>
                <a:latin typeface="Times New Roman"/>
                <a:ea typeface="Lato"/>
              </a:rPr>
              <a:t>Giải trình tự hàng triệu đoạn đọc để đếm mật độ nhiễm sắc thể.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6" name="Google Shape;245;p 2" descr="image.png"/>
          <p:cNvPicPr/>
          <p:nvPr/>
        </p:nvPicPr>
        <p:blipFill>
          <a:blip r:embed="rId6"/>
          <a:stretch/>
        </p:blipFill>
        <p:spPr>
          <a:xfrm>
            <a:off x="9607680" y="2105640"/>
            <a:ext cx="532440" cy="475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7" name="Google Shape;246;p 2"/>
          <p:cNvSpPr/>
          <p:nvPr/>
        </p:nvSpPr>
        <p:spPr>
          <a:xfrm>
            <a:off x="8440920" y="2950560"/>
            <a:ext cx="286596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E293B"/>
                </a:solidFill>
                <a:effectLst/>
                <a:uFillTx/>
                <a:latin typeface="Times New Roman"/>
                <a:ea typeface="Lato"/>
              </a:rPr>
              <a:t>Kiểm định Z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Google Shape;247;p 2"/>
          <p:cNvSpPr/>
          <p:nvPr/>
        </p:nvSpPr>
        <p:spPr>
          <a:xfrm>
            <a:off x="8508960" y="3348000"/>
            <a:ext cx="2729520" cy="91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1E293B"/>
                </a:solidFill>
                <a:effectLst/>
                <a:uFillTx/>
                <a:latin typeface="Times New Roman"/>
                <a:ea typeface="Lato"/>
              </a:rPr>
              <a:t>Sử dụng xác suất để xác định sự bất thường so với quần thể chuẩn.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Google Shape;248;p 2"/>
          <p:cNvSpPr/>
          <p:nvPr/>
        </p:nvSpPr>
        <p:spPr>
          <a:xfrm>
            <a:off x="762120" y="903600"/>
            <a:ext cx="11400480" cy="56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>
              <a:lnSpc>
                <a:spcPct val="11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0369A1"/>
                </a:solidFill>
                <a:effectLst/>
                <a:uFillTx/>
                <a:latin typeface="Times New Roman"/>
                <a:ea typeface="Poppins"/>
              </a:rPr>
              <a:t>Ví dụ 1: Kiểm định Z trong NIPT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Google Shape;249;p 2"/>
          <p:cNvSpPr/>
          <p:nvPr/>
        </p:nvSpPr>
        <p:spPr>
          <a:xfrm>
            <a:off x="571680" y="903600"/>
            <a:ext cx="75240" cy="438840"/>
          </a:xfrm>
          <a:prstGeom prst="rect">
            <a:avLst/>
          </a:prstGeom>
          <a:solidFill>
            <a:srgbClr val="0EA5E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7800" tIns="45000" rIns="378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Title 1"/>
          <p:cNvSpPr/>
          <p:nvPr/>
        </p:nvSpPr>
        <p:spPr>
          <a:xfrm>
            <a:off x="613080" y="406800"/>
            <a:ext cx="10668600" cy="54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b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3200" b="1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Kết quả NIPT: Bất thường nhiễm sắc thể 21 ở thai nhi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Box 1"/>
          <p:cNvSpPr/>
          <p:nvPr/>
        </p:nvSpPr>
        <p:spPr>
          <a:xfrm>
            <a:off x="6444360" y="6244560"/>
            <a:ext cx="529596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10.7717/peerj.14400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3" name="Picture 2"/>
          <p:cNvPicPr/>
          <p:nvPr/>
        </p:nvPicPr>
        <p:blipFill>
          <a:blip r:embed="rId1"/>
          <a:srcRect l="0" t="52459" r="0" b="0"/>
          <a:stretch/>
        </p:blipFill>
        <p:spPr>
          <a:xfrm>
            <a:off x="1768680" y="1416600"/>
            <a:ext cx="8736840" cy="4604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4" name="Rectangle 6"/>
          <p:cNvSpPr/>
          <p:nvPr/>
        </p:nvSpPr>
        <p:spPr>
          <a:xfrm>
            <a:off x="1956960" y="1454760"/>
            <a:ext cx="800280" cy="367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Title 1"/>
          <p:cNvSpPr/>
          <p:nvPr/>
        </p:nvSpPr>
        <p:spPr>
          <a:xfrm>
            <a:off x="704520" y="203760"/>
            <a:ext cx="10513800" cy="77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b">
            <a:normAutofit fontScale="85000" lnSpcReduction="9999"/>
          </a:bodyPr>
          <a:p>
            <a:pPr marL="457200" defTabSz="914400">
              <a:lnSpc>
                <a:spcPct val="100000"/>
              </a:lnSpc>
            </a:pPr>
            <a:r>
              <a:rPr lang="en-US" sz="4400" b="1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Mẫu cho </a:t>
            </a:r>
            <a:r>
              <a:rPr lang="vi-VN" sz="4400" b="1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XÉT NGHIỆM </a:t>
            </a:r>
            <a:r>
              <a:rPr lang="en-US" sz="4400" b="1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gen: mẫu mô và máu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Box 9"/>
          <p:cNvSpPr/>
          <p:nvPr/>
        </p:nvSpPr>
        <p:spPr>
          <a:xfrm>
            <a:off x="8014320" y="6259320"/>
            <a:ext cx="2860200" cy="30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 defTabSz="914400">
              <a:lnSpc>
                <a:spcPct val="100000"/>
              </a:lnSpc>
            </a:pPr>
            <a:r>
              <a:rPr lang="en-US" sz="1400" b="0" u="none" strike="noStrike">
                <a:solidFill>
                  <a:srgbClr val="222222"/>
                </a:solidFill>
                <a:effectLst/>
                <a:highlight>
                  <a:srgbClr val="FFFFFF"/>
                </a:highlight>
                <a:uFillTx/>
                <a:latin typeface="Times New Roman"/>
              </a:rPr>
              <a:t>10.1038/s41416-022-01881-9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07" name="Group 5"/>
          <p:cNvGrpSpPr/>
          <p:nvPr/>
        </p:nvGrpSpPr>
        <p:grpSpPr>
          <a:xfrm>
            <a:off x="1229760" y="1266120"/>
            <a:ext cx="9462960" cy="4727160"/>
            <a:chOff x="1229760" y="1266120"/>
            <a:chExt cx="9462960" cy="4727160"/>
          </a:xfrm>
        </p:grpSpPr>
        <p:pic>
          <p:nvPicPr>
            <p:cNvPr id="208" name="Picture 2" descr="Fig. 1"/>
            <p:cNvPicPr/>
            <p:nvPr/>
          </p:nvPicPr>
          <p:blipFill>
            <a:blip r:embed="rId1"/>
            <a:srcRect l="2628" t="0" r="0" b="55389"/>
            <a:stretch/>
          </p:blipFill>
          <p:spPr>
            <a:xfrm>
              <a:off x="1229760" y="1266120"/>
              <a:ext cx="9462960" cy="47271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09" name="Rectangle 2"/>
            <p:cNvSpPr/>
            <p:nvPr/>
          </p:nvSpPr>
          <p:spPr>
            <a:xfrm>
              <a:off x="1520640" y="5654520"/>
              <a:ext cx="1529280" cy="27252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endParaRPr>
            </a:p>
          </p:txBody>
        </p:sp>
      </p:grpSp>
      <p:sp>
        <p:nvSpPr>
          <p:cNvPr id="210" name="Rectangle 8"/>
          <p:cNvSpPr/>
          <p:nvPr/>
        </p:nvSpPr>
        <p:spPr>
          <a:xfrm>
            <a:off x="3739320" y="1223280"/>
            <a:ext cx="162000" cy="4276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81000" tIns="45000" rIns="81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Rectangle 11"/>
          <p:cNvSpPr/>
          <p:nvPr/>
        </p:nvSpPr>
        <p:spPr>
          <a:xfrm>
            <a:off x="7083360" y="1266120"/>
            <a:ext cx="188640" cy="4276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TextBox 12"/>
          <p:cNvSpPr/>
          <p:nvPr/>
        </p:nvSpPr>
        <p:spPr>
          <a:xfrm>
            <a:off x="1896840" y="4963320"/>
            <a:ext cx="160740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Mẫu mô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Box 13"/>
          <p:cNvSpPr/>
          <p:nvPr/>
        </p:nvSpPr>
        <p:spPr>
          <a:xfrm>
            <a:off x="6575400" y="5270040"/>
            <a:ext cx="1607400" cy="36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Mẫu máu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title"/>
          </p:nvPr>
        </p:nvSpPr>
        <p:spPr>
          <a:xfrm>
            <a:off x="798480" y="1804320"/>
            <a:ext cx="10828800" cy="2385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92500" lnSpcReduction="9999"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vi-VN" sz="6600" b="1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Xin chân thành cảm ơn</a:t>
            </a:r>
            <a:br>
              <a:rPr sz="6600"/>
            </a:br>
            <a:r>
              <a:rPr lang="en-GB" sz="6600" b="1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sự lắng nghe của quý phụ huynh và các tân sinh viên</a:t>
            </a:r>
            <a:r>
              <a:rPr lang="vi-VN" sz="6600" b="1" u="none" strike="noStrike">
                <a:solidFill>
                  <a:srgbClr val="0070C0"/>
                </a:solidFill>
                <a:effectLst/>
                <a:uFillTx/>
                <a:latin typeface="Times New Roman"/>
              </a:rPr>
              <a:t>!</a:t>
            </a:r>
            <a:endParaRPr lang="en-US" sz="6600" b="0" u="none" strike="noStrike">
              <a:solidFill>
                <a:schemeClr val="dk1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PlaceHolder 2"/>
          <p:cNvSpPr>
            <a:spLocks noGrp="1"/>
          </p:cNvSpPr>
          <p:nvPr>
            <p:ph type="subTitle"/>
          </p:nvPr>
        </p:nvSpPr>
        <p:spPr>
          <a:xfrm>
            <a:off x="1451880" y="4538160"/>
            <a:ext cx="9142200" cy="1653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Luu Phuc Loi, PhD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sng" strike="noStrike">
                <a:solidFill>
                  <a:schemeClr val="dk1"/>
                </a:solidFill>
                <a:effectLst/>
                <a:uFillTx/>
                <a:latin typeface="Times New Roman"/>
                <a:hlinkClick r:id="rId1"/>
              </a:rPr>
              <a:t>luu.p.loi@googlemail.com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imes New Roman"/>
              </a:rPr>
              <a:t>Phone/Zalo: 0901802182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6" name=""/>
          <p:cNvPicPr/>
          <p:nvPr/>
        </p:nvPicPr>
        <p:blipFill>
          <a:blip r:embed="rId2"/>
          <a:stretch/>
        </p:blipFill>
        <p:spPr>
          <a:xfrm>
            <a:off x="228600" y="120600"/>
            <a:ext cx="1370160" cy="1370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7" name=""/>
          <p:cNvPicPr/>
          <p:nvPr/>
        </p:nvPicPr>
        <p:blipFill>
          <a:blip r:embed="rId3"/>
          <a:srcRect l="17515" t="16570" r="19148" b="16760"/>
          <a:stretch/>
        </p:blipFill>
        <p:spPr>
          <a:xfrm>
            <a:off x="10395000" y="85680"/>
            <a:ext cx="1598760" cy="1683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21091</TotalTime>
  <Application>LibreOffice/26.2.5.2$Linux_X86_64 LibreOffice_project/6d2b0d33fb0f5da53a12f98bed3e9973e56ff1f0</Application>
  <AppVersion>15.0000</AppVersion>
  <Words>2352</Words>
  <Paragraphs>300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2024-10-05T03:34:02Z</dcterms:created>
  <dc:creator>Lưu Phúc Lợi</dc:creator>
  <dc:description/>
  <dc:language>en-US</dc:language>
  <cp:lastModifiedBy/>
  <dcterms:modified xsi:type="dcterms:W3CDTF">2026-09-27T09:56:32Z</dcterms:modified>
  <cp:revision>319</cp:revision>
  <dc:subject/>
  <dc:title>Khoa Học Dữ Liệu Y Sinh Góc nhìn Đa Ngành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</vt:i4>
  </property>
  <property fmtid="{D5CDD505-2E9C-101B-9397-08002B2CF9AE}" pid="3" name="PresentationFormat">
    <vt:lpwstr>Widescreen</vt:lpwstr>
  </property>
  <property fmtid="{D5CDD505-2E9C-101B-9397-08002B2CF9AE}" pid="4" name="Slides">
    <vt:i4>68</vt:i4>
  </property>
</Properties>
</file>