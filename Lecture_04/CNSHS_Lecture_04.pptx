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6" r:id="rId3"/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7.xml"/><Relationship Id="rId4" Type="http://schemas.openxmlformats.org/officeDocument/2006/relationships/slideMaster" Target="slideMasters/slideMaster18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5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ftr" idx="6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sldNum" idx="6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F9D2828-ACC6-471C-BED4-779443A3D34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A6B44B-6FDD-4BDC-B0DD-E566B25423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edit Master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0BA4CF-063A-488A-8575-DAC0DBCF30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17691A-1EE4-45A4-B179-9F642E1DBB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393EEA-B029-4D7D-878A-2429443322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170F49-0273-4FC7-934C-ECF42BB9E0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8A12F1-13C5-443A-8E31-3CE9819494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280B7C-A7E7-4594-AA9E-97AE261B0B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29CBE5-8EC7-46AC-85EE-3FDC427E9C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E1914C-6E2F-48F9-B719-4B4278BD59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920" cy="580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080" cy="580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042D52-4050-4A2A-B3BA-000ECD63CE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32A420-97C7-4811-98AA-1A2BDFA0F4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440" cy="285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440" cy="149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3373E4-FF06-40DC-B6CC-8866B8051B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32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320" cy="434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AE1158-F12A-40D9-9456-4E6C0E4D84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56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560" cy="368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12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120" cy="368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F4763A-E931-4EDA-8399-52DB176EBC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CD9A3E-38CF-440B-974C-30627D0FA8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F82EDA-1330-4028-9041-8231F17E9B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65905D-E68F-4DC6-8F60-5B914E415B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16A04C-F97F-43EE-8F78-C0F3E7DD49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F5AB1936-B821-49E3-913D-D016E5718E1A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dt" idx="5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ftr" idx="5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sldNum" idx="5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8DF8922-EDD8-4E6E-893F-68405542038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dt" idx="5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5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5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D229D8-07CA-4C94-B5E4-216EC359C02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2013120"/>
            <a:ext cx="914184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52"/>
          </p:nvPr>
        </p:nvSpPr>
        <p:spPr>
          <a:xfrm>
            <a:off x="11296440" y="6217560"/>
            <a:ext cx="72936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vi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459EF8-A0AC-46A9-A54A-6E104150E869}" type="slidenum">
              <a:rPr lang="vi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  <p:sldLayoutId id="214748367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jpeg"/><Relationship Id="rId3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image" Target="../media/image26.jpeg"/><Relationship Id="rId4" Type="http://schemas.openxmlformats.org/officeDocument/2006/relationships/image" Target="../media/image27.jpe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1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8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1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mailto:luu.p.loi@googlemail.com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4"/>
          <p:cNvSpPr/>
          <p:nvPr/>
        </p:nvSpPr>
        <p:spPr>
          <a:xfrm>
            <a:off x="1219320" y="1770120"/>
            <a:ext cx="995292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0000"/>
                </a:solidFill>
                <a:effectLst/>
                <a:uFillTx/>
                <a:latin typeface="Arial"/>
                <a:ea typeface="Montserrat"/>
              </a:rPr>
              <a:t>Bài 03: Giới thiệu</a:t>
            </a:r>
            <a:r>
              <a:rPr lang="en-US" sz="4000" b="1" u="none" spc="-48" strike="noStrike">
                <a:solidFill>
                  <a:srgbClr val="0070C0"/>
                </a:solidFill>
                <a:effectLst/>
                <a:uFillTx/>
                <a:latin typeface="Arial"/>
                <a:ea typeface="Montserrat"/>
              </a:rPr>
              <a:t>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70C0"/>
                </a:solidFill>
                <a:effectLst/>
                <a:uFillTx/>
                <a:latin typeface="Arial"/>
                <a:ea typeface="Montserrat"/>
              </a:rPr>
              <a:t>Nhập Môn Ngành Công Nghệ Sinh Học Số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55;p13"/>
          <p:cNvSpPr/>
          <p:nvPr/>
        </p:nvSpPr>
        <p:spPr>
          <a:xfrm>
            <a:off x="1136160" y="4043160"/>
            <a:ext cx="10005480" cy="21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840" tIns="60840" rIns="60840" bIns="60840" anchor="ctr">
            <a:noAutofit/>
          </a:bodyPr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14.09.2026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TS. Lưu Phúc Lợi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Email: loilp@bvtn.org.vn</a:t>
            </a:r>
            <a:br>
              <a:rPr sz="1870"/>
            </a:br>
            <a:r>
              <a:rPr lang="fr-FR" sz="187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Zalo: 0901802182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Viện Nghiên cứu Ứng dụng Khoa học Sức khỏe và Lão hóa – Bệnh viện Thống Nhất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59;p13" title="Profile.jpg"/>
          <p:cNvSpPr/>
          <p:nvPr/>
        </p:nvSpPr>
        <p:spPr>
          <a:xfrm>
            <a:off x="8628840" y="3422520"/>
            <a:ext cx="1914480" cy="193356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"/>
          <p:cNvPicPr/>
          <p:nvPr/>
        </p:nvPicPr>
        <p:blipFill>
          <a:blip r:embed="rId2"/>
          <a:stretch/>
        </p:blipFill>
        <p:spPr>
          <a:xfrm>
            <a:off x="228600" y="120600"/>
            <a:ext cx="1369800" cy="136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/>
          <p:cNvPicPr/>
          <p:nvPr/>
        </p:nvPicPr>
        <p:blipFill>
          <a:blip r:embed="rId3"/>
          <a:srcRect l="17515" t="16570" r="19148" b="16760"/>
          <a:stretch/>
        </p:blipFill>
        <p:spPr>
          <a:xfrm>
            <a:off x="10395000" y="85680"/>
            <a:ext cx="1598400" cy="168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7"/>
          <p:cNvSpPr/>
          <p:nvPr/>
        </p:nvSpPr>
        <p:spPr>
          <a:xfrm>
            <a:off x="1219320" y="2346120"/>
            <a:ext cx="995292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0000"/>
                </a:solidFill>
                <a:effectLst/>
                <a:uFillTx/>
                <a:latin typeface="Arial"/>
                <a:ea typeface="Montserrat"/>
              </a:rPr>
              <a:t>Trân trọng chào đón các Tân Sinh Viên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70C0"/>
                </a:solidFill>
                <a:effectLst/>
                <a:uFillTx/>
                <a:latin typeface="Arial"/>
                <a:ea typeface="Montserrat"/>
              </a:rPr>
              <a:t>Ngành Công Nghệ Sinh Học 2026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228600" y="120600"/>
            <a:ext cx="1369800" cy="136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/>
          <p:cNvPicPr/>
          <p:nvPr/>
        </p:nvPicPr>
        <p:blipFill>
          <a:blip r:embed="rId2"/>
          <a:srcRect l="17515" t="16570" r="19148" b="16760"/>
          <a:stretch/>
        </p:blipFill>
        <p:spPr>
          <a:xfrm>
            <a:off x="10395000" y="85680"/>
            <a:ext cx="1598400" cy="168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/>
          <p:nvPr/>
        </p:nvSpPr>
        <p:spPr>
          <a:xfrm>
            <a:off x="957960" y="203040"/>
            <a:ext cx="10346400" cy="8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Nội dung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ontent Placeholder 2"/>
          <p:cNvSpPr/>
          <p:nvPr/>
        </p:nvSpPr>
        <p:spPr>
          <a:xfrm>
            <a:off x="544320" y="1265760"/>
            <a:ext cx="10760400" cy="456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GB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Giới thiệu d</a:t>
            </a:r>
            <a:r>
              <a:rPr lang="vi-VN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ự án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BỘ GEN NGƯỜI</a:t>
            </a:r>
            <a:r>
              <a:rPr lang="vi-VN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&amp;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GIẢI TRÌNH TỰ GEN THẾ HỆ MỚI</a:t>
            </a:r>
            <a:r>
              <a:rPr lang="en-GB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(NGS)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mối quan hệ của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BIẾN THỂ GEN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và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BỆNH DI TRUYỀN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Quy trình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bằng phương pháp giải trình tự thế hệ mới (NGS)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Năm ví dụ về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cho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BỆNH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DI TRUYỀN 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và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UNG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THƯ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gen trong bệnh nhiễm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Ứng dụng AI trong phân tích dữ liệu hình ảnh y khoa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523880" y="380880"/>
            <a:ext cx="91418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Xin gởi lời cảm ơn trân thành đến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934920" y="1708200"/>
            <a:ext cx="9141840" cy="456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Đại học Đồng Tháp - Khoa Công Nghệ và Kỹ Thuật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algn="l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TS. Lê Uyển Thanh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algn="l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TS. Huỳnh Ngọc Tâm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algn="l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TS. Trần Đức Tường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31320" y="242928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5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Ứng dụng NGS trong bệnh nhiễm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360" y="515520"/>
            <a:ext cx="10920960" cy="112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Phân tích bộ gen vi khuẩn: nghiên cứu một tác nhân gây bệnh ở mỗi mẫu phân lập 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Content Placeholder 4"/>
          <p:cNvPicPr/>
          <p:nvPr/>
        </p:nvPicPr>
        <p:blipFill>
          <a:blip r:embed="rId1"/>
          <a:stretch/>
        </p:blipFill>
        <p:spPr>
          <a:xfrm>
            <a:off x="838080" y="2079720"/>
            <a:ext cx="10513440" cy="293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5"/>
          <p:cNvSpPr/>
          <p:nvPr/>
        </p:nvSpPr>
        <p:spPr>
          <a:xfrm>
            <a:off x="838080" y="5371200"/>
            <a:ext cx="390852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Phân lập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5592240" y="5371200"/>
            <a:ext cx="390852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Giải trình tự bộ gen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8898120" y="5371200"/>
            <a:ext cx="245340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Serotyping/genotyping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Box 2"/>
          <p:cNvSpPr/>
          <p:nvPr/>
        </p:nvSpPr>
        <p:spPr>
          <a:xfrm>
            <a:off x="6141960" y="6311880"/>
            <a:ext cx="491040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7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https://www.ncbi.nlm.nih.gov/nuccore/AL591824.1?report=fasta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2"/>
          <p:cNvPicPr/>
          <p:nvPr/>
        </p:nvPicPr>
        <p:blipFill>
          <a:blip r:embed="rId1"/>
          <a:stretch/>
        </p:blipFill>
        <p:spPr>
          <a:xfrm>
            <a:off x="6002640" y="610200"/>
            <a:ext cx="5189040" cy="519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Picture 2" descr="Listeria monocytogenes - Wikipedia"/>
          <p:cNvPicPr/>
          <p:nvPr/>
        </p:nvPicPr>
        <p:blipFill>
          <a:blip r:embed="rId2"/>
          <a:stretch/>
        </p:blipFill>
        <p:spPr>
          <a:xfrm>
            <a:off x="919440" y="3497760"/>
            <a:ext cx="1912320" cy="238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4" descr="Listeria (Listeriosis) | Listeria | CDC"/>
          <p:cNvPicPr/>
          <p:nvPr/>
        </p:nvPicPr>
        <p:blipFill>
          <a:blip r:embed="rId3"/>
          <a:stretch/>
        </p:blipFill>
        <p:spPr>
          <a:xfrm>
            <a:off x="2657520" y="2978640"/>
            <a:ext cx="3217320" cy="141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6" descr="Listeria monocytogenes"/>
          <p:cNvPicPr/>
          <p:nvPr/>
        </p:nvPicPr>
        <p:blipFill>
          <a:blip r:embed="rId4"/>
          <a:stretch/>
        </p:blipFill>
        <p:spPr>
          <a:xfrm>
            <a:off x="1019880" y="483480"/>
            <a:ext cx="4516560" cy="235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8" descr="Laboratory diagnosis of Listeriosis ..."/>
          <p:cNvPicPr/>
          <p:nvPr/>
        </p:nvPicPr>
        <p:blipFill>
          <a:blip r:embed="rId5"/>
          <a:stretch/>
        </p:blipFill>
        <p:spPr>
          <a:xfrm>
            <a:off x="2255040" y="4977360"/>
            <a:ext cx="2903040" cy="156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344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Building Phylogenetic Tree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" name=""/>
          <p:cNvPicPr/>
          <p:nvPr/>
        </p:nvPicPr>
        <p:blipFill>
          <a:blip r:embed="rId1"/>
          <a:stretch/>
        </p:blipFill>
        <p:spPr>
          <a:xfrm>
            <a:off x="3118320" y="2364120"/>
            <a:ext cx="5990040" cy="21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"/>
          <p:cNvSpPr/>
          <p:nvPr/>
        </p:nvSpPr>
        <p:spPr>
          <a:xfrm>
            <a:off x="4042800" y="3922200"/>
            <a:ext cx="227880" cy="2278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344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Building Phylogenetic Tree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rcRect l="39991" t="3322" r="0" b="53339"/>
          <a:stretch/>
        </p:blipFill>
        <p:spPr>
          <a:xfrm>
            <a:off x="6172200" y="2057400"/>
            <a:ext cx="4114080" cy="297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"/>
          <p:cNvPicPr/>
          <p:nvPr/>
        </p:nvPicPr>
        <p:blipFill>
          <a:blip r:embed="rId2"/>
          <a:srcRect l="0" t="24621" r="66670" b="33333"/>
          <a:stretch/>
        </p:blipFill>
        <p:spPr>
          <a:xfrm>
            <a:off x="1828800" y="2057400"/>
            <a:ext cx="2284200" cy="288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"/>
          <p:cNvSpPr/>
          <p:nvPr/>
        </p:nvSpPr>
        <p:spPr>
          <a:xfrm>
            <a:off x="4572000" y="3429000"/>
            <a:ext cx="1142280" cy="45648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4078800" y="3429000"/>
            <a:ext cx="227880" cy="685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059160" y="3645360"/>
            <a:ext cx="227880" cy="685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256320"/>
            <a:ext cx="1051344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Building Phylogenetic Tree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4078800" y="3429000"/>
            <a:ext cx="227880" cy="685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059160" y="3645360"/>
            <a:ext cx="227880" cy="685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"/>
          <p:cNvPicPr/>
          <p:nvPr/>
        </p:nvPicPr>
        <p:blipFill>
          <a:blip r:embed="rId1"/>
          <a:stretch/>
        </p:blipFill>
        <p:spPr>
          <a:xfrm>
            <a:off x="2743200" y="1420200"/>
            <a:ext cx="5763960" cy="503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700920" y="246960"/>
            <a:ext cx="10513440" cy="55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Phân tích một bộ gen so với nhiều bộ gen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" name="Picture 7"/>
          <p:cNvPicPr/>
          <p:nvPr/>
        </p:nvPicPr>
        <p:blipFill>
          <a:blip r:embed="rId1"/>
          <a:stretch/>
        </p:blipFill>
        <p:spPr>
          <a:xfrm>
            <a:off x="1723320" y="1030680"/>
            <a:ext cx="8106120" cy="527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15"/>
          <p:cNvSpPr/>
          <p:nvPr/>
        </p:nvSpPr>
        <p:spPr>
          <a:xfrm>
            <a:off x="5945400" y="6426360"/>
            <a:ext cx="609624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10.1016/j.csbj.2021.11.028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2"/>
          <p:cNvSpPr/>
          <p:nvPr/>
        </p:nvSpPr>
        <p:spPr>
          <a:xfrm>
            <a:off x="1320840" y="1030680"/>
            <a:ext cx="1175040" cy="558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246960"/>
            <a:ext cx="10513440" cy="55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Target vs Shotgun Microbiome Analysis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200520" y="6345720"/>
            <a:ext cx="609624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10.1186/1471-2164-12-S2-S4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2" descr="General overview of 16S rRNA gene NGS and shotgun metagenomics methods....  | Download Scientific Diagram"/>
          <p:cNvPicPr/>
          <p:nvPr/>
        </p:nvPicPr>
        <p:blipFill>
          <a:blip r:embed="rId1"/>
          <a:stretch/>
        </p:blipFill>
        <p:spPr>
          <a:xfrm>
            <a:off x="6298920" y="1317240"/>
            <a:ext cx="5394240" cy="463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4" descr="Estimating taxonomic profiles using 16S rRNA targeted sequencing or... |  Download Scientific Diagram"/>
          <p:cNvPicPr/>
          <p:nvPr/>
        </p:nvPicPr>
        <p:blipFill>
          <a:blip r:embed="rId2"/>
          <a:stretch/>
        </p:blipFill>
        <p:spPr>
          <a:xfrm>
            <a:off x="963000" y="1135800"/>
            <a:ext cx="3965040" cy="498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7"/>
          <p:cNvSpPr/>
          <p:nvPr/>
        </p:nvSpPr>
        <p:spPr>
          <a:xfrm>
            <a:off x="8137440" y="6283080"/>
            <a:ext cx="355572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10.1007/s10096-019-03520-3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80320" y="115560"/>
            <a:ext cx="10771200" cy="84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Precision microbiome testing: </a:t>
            </a: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STI, HPV </a:t>
            </a:r>
            <a:r>
              <a:rPr lang="en-US" sz="40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and</a:t>
            </a: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AMR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" name="Google Shape;215;g2643615e4c5_0_0"/>
          <p:cNvPicPr/>
          <p:nvPr/>
        </p:nvPicPr>
        <p:blipFill>
          <a:blip r:embed="rId1"/>
          <a:stretch/>
        </p:blipFill>
        <p:spPr>
          <a:xfrm>
            <a:off x="263880" y="1075320"/>
            <a:ext cx="6046200" cy="423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Google Shape;216;g2643615e4c5_0_0"/>
          <p:cNvPicPr/>
          <p:nvPr/>
        </p:nvPicPr>
        <p:blipFill>
          <a:blip r:embed="rId2"/>
          <a:stretch/>
        </p:blipFill>
        <p:spPr>
          <a:xfrm>
            <a:off x="263880" y="5468040"/>
            <a:ext cx="6046200" cy="103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Google Shape;217;g2643615e4c5_0_0"/>
          <p:cNvPicPr/>
          <p:nvPr/>
        </p:nvPicPr>
        <p:blipFill>
          <a:blip r:embed="rId3"/>
          <a:stretch/>
        </p:blipFill>
        <p:spPr>
          <a:xfrm>
            <a:off x="6447600" y="1180800"/>
            <a:ext cx="5527800" cy="40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Google Shape;218;g2643615e4c5_0_0"/>
          <p:cNvSpPr/>
          <p:nvPr/>
        </p:nvSpPr>
        <p:spPr>
          <a:xfrm>
            <a:off x="4789440" y="2958840"/>
            <a:ext cx="1414080" cy="202320"/>
          </a:xfrm>
          <a:prstGeom prst="ellipse">
            <a:avLst/>
          </a:prstGeom>
          <a:noFill/>
          <a:ln w="952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1640" rIns="90000" bIns="716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Google Shape;219;g2643615e4c5_0_0"/>
          <p:cNvSpPr/>
          <p:nvPr/>
        </p:nvSpPr>
        <p:spPr>
          <a:xfrm>
            <a:off x="4789440" y="3979800"/>
            <a:ext cx="1414080" cy="202320"/>
          </a:xfrm>
          <a:prstGeom prst="ellipse">
            <a:avLst/>
          </a:prstGeom>
          <a:noFill/>
          <a:ln w="952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1640" rIns="90000" bIns="716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Google Shape;220;g2643615e4c5_0_0"/>
          <p:cNvSpPr/>
          <p:nvPr/>
        </p:nvSpPr>
        <p:spPr>
          <a:xfrm>
            <a:off x="10561320" y="3777480"/>
            <a:ext cx="1414080" cy="202320"/>
          </a:xfrm>
          <a:prstGeom prst="ellipse">
            <a:avLst/>
          </a:prstGeom>
          <a:noFill/>
          <a:ln w="952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1640" rIns="90000" bIns="716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Google Shape;223;g2643615e4c5_0_0"/>
          <p:cNvSpPr/>
          <p:nvPr/>
        </p:nvSpPr>
        <p:spPr>
          <a:xfrm>
            <a:off x="211680" y="963000"/>
            <a:ext cx="1843920" cy="53892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Google Shape;224;g2643615e4c5_0_0"/>
          <p:cNvSpPr/>
          <p:nvPr/>
        </p:nvSpPr>
        <p:spPr>
          <a:xfrm>
            <a:off x="6447600" y="1075320"/>
            <a:ext cx="1843920" cy="53892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ontent Placeholder 1"/>
          <p:cNvSpPr/>
          <p:nvPr/>
        </p:nvSpPr>
        <p:spPr>
          <a:xfrm>
            <a:off x="387720" y="2448720"/>
            <a:ext cx="11101320" cy="273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marL="971640" lvl="1" indent="-514440" algn="ctr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OpenSymbol"/>
              <a:buAutoNum type="arabicPeriod"/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Ứng dụng AI trong phân tích dữ liệu hình ảnh y khoa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2A6099"/>
                </a:solidFill>
                <a:effectLst/>
                <a:uFillTx/>
                <a:latin typeface="Arial"/>
              </a:rPr>
              <a:t>Dữ liệu ảnh giải phẩu bệnh và chẩn đoán hình ảnh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71" name="Picture 13" descr="May be an image of x-ray and text"/>
          <p:cNvPicPr/>
          <p:nvPr/>
        </p:nvPicPr>
        <p:blipFill>
          <a:blip r:embed="rId1"/>
          <a:stretch/>
        </p:blipFill>
        <p:spPr>
          <a:xfrm>
            <a:off x="1571760" y="1825560"/>
            <a:ext cx="9046440" cy="434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9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2A6099"/>
                </a:solidFill>
                <a:effectLst/>
                <a:uFillTx/>
                <a:latin typeface="Arial"/>
              </a:rPr>
              <a:t>Người ngoài nghề nghĩ …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73" name="Picture 18" descr="Thông số đo huyết áp chuẩn"/>
          <p:cNvPicPr/>
          <p:nvPr/>
        </p:nvPicPr>
        <p:blipFill>
          <a:blip r:embed="rId1"/>
          <a:stretch/>
        </p:blipFill>
        <p:spPr>
          <a:xfrm>
            <a:off x="2891520" y="1531080"/>
            <a:ext cx="6221160" cy="434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Box 21"/>
          <p:cNvSpPr/>
          <p:nvPr/>
        </p:nvSpPr>
        <p:spPr>
          <a:xfrm>
            <a:off x="3824280" y="6314760"/>
            <a:ext cx="8045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https://microlife.com.vn/thong-so-do-huyet-ap-la-gi-va-tai-sao-no-quan-trong/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9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2A6099"/>
                </a:solidFill>
                <a:effectLst/>
                <a:uFillTx/>
                <a:latin typeface="Arial"/>
              </a:rPr>
              <a:t>Người ngoài nghề nghĩ …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76" name=""/>
          <p:cNvPicPr/>
          <p:nvPr/>
        </p:nvPicPr>
        <p:blipFill>
          <a:blip r:embed="rId1"/>
          <a:stretch/>
        </p:blipFill>
        <p:spPr>
          <a:xfrm>
            <a:off x="1626480" y="1346760"/>
            <a:ext cx="8659800" cy="535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98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200" b="1" u="none" strike="noStrike">
                <a:solidFill>
                  <a:srgbClr val="2A6099"/>
                </a:solidFill>
                <a:effectLst/>
                <a:uFillTx/>
                <a:latin typeface="Arial"/>
              </a:rPr>
              <a:t>Thật sự khi mình thật sự bắt tay vào …</a:t>
            </a:r>
            <a:endParaRPr lang="en-US" sz="4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TextBox 22"/>
          <p:cNvSpPr/>
          <p:nvPr/>
        </p:nvSpPr>
        <p:spPr>
          <a:xfrm>
            <a:off x="3824280" y="6314760"/>
            <a:ext cx="8045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https://www.tibco.com/blog/2014/05/19/are-you-suffering-from-big-data-chaos/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Picture 19" descr="Data Chaos: The What, How, Major Types and Marketing"/>
          <p:cNvPicPr/>
          <p:nvPr/>
        </p:nvPicPr>
        <p:blipFill>
          <a:blip r:embed="rId1"/>
          <a:stretch/>
        </p:blipFill>
        <p:spPr>
          <a:xfrm>
            <a:off x="1320120" y="1596960"/>
            <a:ext cx="4173840" cy="279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Picture 20" descr="Are You Suffering From Big Data Chaos? | The TIBCO Blog"/>
          <p:cNvPicPr/>
          <p:nvPr/>
        </p:nvPicPr>
        <p:blipFill>
          <a:blip r:embed="rId2"/>
          <a:stretch/>
        </p:blipFill>
        <p:spPr>
          <a:xfrm>
            <a:off x="5802840" y="1600560"/>
            <a:ext cx="4811400" cy="279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Box 24"/>
          <p:cNvSpPr/>
          <p:nvPr/>
        </p:nvSpPr>
        <p:spPr>
          <a:xfrm>
            <a:off x="1196280" y="4740480"/>
            <a:ext cx="1023192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Thu thập, x</a:t>
            </a:r>
            <a:r>
              <a:rPr lang="vi-V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ây dựng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lưu trữ</a:t>
            </a:r>
            <a:r>
              <a:rPr lang="vi-V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và tối ưu hóa các hệ thống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dữ liệu (</a:t>
            </a:r>
            <a:r>
              <a:rPr lang="en-US" sz="2000" b="1" u="none" strike="noStrike">
                <a:solidFill>
                  <a:srgbClr val="7030A0"/>
                </a:solidFill>
                <a:effectLst/>
                <a:uFillTx/>
                <a:latin typeface="Arial"/>
              </a:rPr>
              <a:t>Data engineer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Kiến thức chuyên môn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Kiến thức về cơ sở dữ liệu (SQL and Non-SQL)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Kỹ năng lập trình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Hadoop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15440" y="298800"/>
            <a:ext cx="11358720" cy="7614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rmAutofit fontScale="92500" lnSpcReduction="9999"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Roboto"/>
              </a:rPr>
              <a:t>DeepHE: </a:t>
            </a:r>
            <a:r>
              <a:rPr lang="vi-VN" sz="4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Roboto"/>
              </a:rPr>
              <a:t>Lymphôm đường tiêu hóa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cxnSp>
        <p:nvCxnSpPr>
          <p:cNvPr id="183" name="Google Shape;69;p 2"/>
          <p:cNvCxnSpPr/>
          <p:nvPr/>
        </p:nvCxnSpPr>
        <p:spPr>
          <a:xfrm>
            <a:off x="583200" y="1016280"/>
            <a:ext cx="5514840" cy="14760"/>
          </a:xfrm>
          <a:prstGeom prst="straightConnector1">
            <a:avLst/>
          </a:prstGeom>
          <a:ln w="9525">
            <a:solidFill>
              <a:srgbClr val="44546A"/>
            </a:solidFill>
            <a:round/>
          </a:ln>
        </p:spPr>
      </p:cxnSp>
      <p:sp>
        <p:nvSpPr>
          <p:cNvPr id="184" name="Google Shape;70;p 2"/>
          <p:cNvSpPr/>
          <p:nvPr/>
        </p:nvSpPr>
        <p:spPr>
          <a:xfrm>
            <a:off x="466200" y="3522960"/>
            <a:ext cx="1887480" cy="598680"/>
          </a:xfrm>
          <a:prstGeom prst="roundRect">
            <a:avLst>
              <a:gd name="adj" fmla="val 16667"/>
            </a:avLst>
          </a:prstGeom>
          <a:solidFill>
            <a:srgbClr val="EA9999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vi" sz="2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Original 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71;p 2"/>
          <p:cNvSpPr/>
          <p:nvPr/>
        </p:nvSpPr>
        <p:spPr>
          <a:xfrm>
            <a:off x="2853360" y="3522960"/>
            <a:ext cx="1887480" cy="59868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vi" sz="2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Convert &amp; Resize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72;p 2"/>
          <p:cNvSpPr/>
          <p:nvPr/>
        </p:nvSpPr>
        <p:spPr>
          <a:xfrm>
            <a:off x="5240160" y="3522960"/>
            <a:ext cx="1887480" cy="59868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vi" sz="2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DL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73;p 2"/>
          <p:cNvSpPr/>
          <p:nvPr/>
        </p:nvSpPr>
        <p:spPr>
          <a:xfrm>
            <a:off x="7815240" y="2606040"/>
            <a:ext cx="1887480" cy="59868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vi" sz="2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Benign 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74;p 2"/>
          <p:cNvSpPr/>
          <p:nvPr/>
        </p:nvSpPr>
        <p:spPr>
          <a:xfrm>
            <a:off x="7815240" y="4455720"/>
            <a:ext cx="1887480" cy="59868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vi" sz="2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Tumor 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9" name="Google Shape;75;p 2"/>
          <p:cNvCxnSpPr/>
          <p:nvPr/>
        </p:nvCxnSpPr>
        <p:spPr>
          <a:xfrm>
            <a:off x="2355840" y="3810600"/>
            <a:ext cx="499320" cy="720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190" name="Google Shape;76;p 2"/>
          <p:cNvCxnSpPr/>
          <p:nvPr/>
        </p:nvCxnSpPr>
        <p:spPr>
          <a:xfrm>
            <a:off x="4742640" y="3820680"/>
            <a:ext cx="499320" cy="684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191" name="Google Shape;77;p 2"/>
          <p:cNvCxnSpPr/>
          <p:nvPr/>
        </p:nvCxnSpPr>
        <p:spPr>
          <a:xfrm flipV="1">
            <a:off x="7129800" y="2906280"/>
            <a:ext cx="687240" cy="90648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192" name="Google Shape;78;p 2"/>
          <p:cNvCxnSpPr>
            <a:stCxn id="186" idx="3"/>
            <a:endCxn id="188" idx="1"/>
          </p:cNvCxnSpPr>
          <p:nvPr/>
        </p:nvCxnSpPr>
        <p:spPr>
          <a:xfrm>
            <a:off x="7127640" y="3822480"/>
            <a:ext cx="687960" cy="93312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pic>
        <p:nvPicPr>
          <p:cNvPr id="193" name="Google Shape;93;p 2"/>
          <p:cNvPicPr/>
          <p:nvPr/>
        </p:nvPicPr>
        <p:blipFill>
          <a:blip r:embed="rId1"/>
          <a:stretch/>
        </p:blipFill>
        <p:spPr>
          <a:xfrm>
            <a:off x="7860960" y="1299960"/>
            <a:ext cx="1234080" cy="113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Google Shape;94;p 2"/>
          <p:cNvPicPr/>
          <p:nvPr/>
        </p:nvPicPr>
        <p:blipFill>
          <a:blip r:embed="rId2"/>
          <a:stretch/>
        </p:blipFill>
        <p:spPr>
          <a:xfrm>
            <a:off x="9221400" y="1299960"/>
            <a:ext cx="1215720" cy="11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Google Shape;95;p 2"/>
          <p:cNvPicPr/>
          <p:nvPr/>
        </p:nvPicPr>
        <p:blipFill>
          <a:blip r:embed="rId3"/>
          <a:stretch/>
        </p:blipFill>
        <p:spPr>
          <a:xfrm>
            <a:off x="7907400" y="5300280"/>
            <a:ext cx="1215720" cy="115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Google Shape;96;p 2"/>
          <p:cNvPicPr/>
          <p:nvPr/>
        </p:nvPicPr>
        <p:blipFill>
          <a:blip r:embed="rId4"/>
          <a:stretch/>
        </p:blipFill>
        <p:spPr>
          <a:xfrm>
            <a:off x="9235080" y="5300280"/>
            <a:ext cx="1215720" cy="116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Google Shape;269;p 2"/>
          <p:cNvPicPr/>
          <p:nvPr/>
        </p:nvPicPr>
        <p:blipFill>
          <a:blip r:embed="rId5"/>
          <a:stretch/>
        </p:blipFill>
        <p:spPr>
          <a:xfrm>
            <a:off x="9946800" y="2906280"/>
            <a:ext cx="1701360" cy="160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2108160" y="4480560"/>
            <a:ext cx="4918680" cy="200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17520" algn="l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Roboto"/>
              <a:buChar char="●"/>
            </a:pPr>
            <a:r>
              <a:rPr lang="vi" sz="14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Accuracy</a:t>
            </a:r>
            <a:r>
              <a:rPr lang="vi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: 0.9398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457200" indent="-317520" algn="l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Roboto"/>
              <a:buChar char="●"/>
            </a:pPr>
            <a:r>
              <a:rPr lang="vi" sz="14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Sensitivity</a:t>
            </a:r>
            <a:r>
              <a:rPr lang="vi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: 0.8913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457200" indent="-317520" algn="l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Roboto"/>
              <a:buChar char="●"/>
            </a:pPr>
            <a:r>
              <a:rPr lang="vi" sz="14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Specificity</a:t>
            </a:r>
            <a:r>
              <a:rPr lang="vi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: 1.000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457200" indent="-317520" algn="l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Roboto"/>
              <a:buChar char="●"/>
            </a:pPr>
            <a:r>
              <a:rPr lang="vi" sz="14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AUC</a:t>
            </a:r>
            <a:r>
              <a:rPr lang="vi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: 0.9413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Content Placeholder 5"/>
          <p:cNvPicPr/>
          <p:nvPr/>
        </p:nvPicPr>
        <p:blipFill>
          <a:blip r:embed="rId1"/>
          <a:stretch/>
        </p:blipFill>
        <p:spPr>
          <a:xfrm>
            <a:off x="483840" y="1257120"/>
            <a:ext cx="11470320" cy="473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rgbClr val="2A6099"/>
                </a:solidFill>
                <a:effectLst/>
                <a:uFillTx/>
                <a:latin typeface="Arial"/>
              </a:rPr>
              <a:t>DeepECG: các bệnh về tim mạch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Content Placeholder 6"/>
          <p:cNvPicPr/>
          <p:nvPr/>
        </p:nvPicPr>
        <p:blipFill>
          <a:blip r:embed="rId1"/>
          <a:stretch/>
        </p:blipFill>
        <p:spPr>
          <a:xfrm>
            <a:off x="1415520" y="234720"/>
            <a:ext cx="9358920" cy="644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15440" y="298800"/>
            <a:ext cx="11358720" cy="7614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5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Roboto"/>
              </a:rPr>
              <a:t>VECV: bệnh cơ tim phì đại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cxnSp>
        <p:nvCxnSpPr>
          <p:cNvPr id="203" name="Google Shape;69;p 1"/>
          <p:cNvCxnSpPr/>
          <p:nvPr/>
        </p:nvCxnSpPr>
        <p:spPr>
          <a:xfrm>
            <a:off x="583200" y="1264320"/>
            <a:ext cx="6982920" cy="2160"/>
          </a:xfrm>
          <a:prstGeom prst="straightConnector1">
            <a:avLst/>
          </a:prstGeom>
          <a:ln w="9525">
            <a:solidFill>
              <a:srgbClr val="44546A"/>
            </a:solidFill>
            <a:round/>
          </a:ln>
        </p:spPr>
      </p:cxnSp>
      <p:sp>
        <p:nvSpPr>
          <p:cNvPr id="204" name="Google Shape;72;p 1"/>
          <p:cNvSpPr/>
          <p:nvPr/>
        </p:nvSpPr>
        <p:spPr>
          <a:xfrm>
            <a:off x="7813080" y="3445200"/>
            <a:ext cx="1887480" cy="59868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vi" sz="2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DL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5" name="Google Shape;76;p 1"/>
          <p:cNvCxnSpPr/>
          <p:nvPr/>
        </p:nvCxnSpPr>
        <p:spPr>
          <a:xfrm>
            <a:off x="7315560" y="3743280"/>
            <a:ext cx="499320" cy="684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206" name="Google Shape;77;p 1"/>
          <p:cNvCxnSpPr/>
          <p:nvPr/>
        </p:nvCxnSpPr>
        <p:spPr>
          <a:xfrm flipV="1">
            <a:off x="9702360" y="2828880"/>
            <a:ext cx="687600" cy="90648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207" name="Google Shape;78;p 1"/>
          <p:cNvCxnSpPr>
            <a:stCxn id="204" idx="3"/>
          </p:cNvCxnSpPr>
          <p:nvPr/>
        </p:nvCxnSpPr>
        <p:spPr>
          <a:xfrm>
            <a:off x="9700560" y="3744720"/>
            <a:ext cx="689400" cy="93600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pic>
        <p:nvPicPr>
          <p:cNvPr id="208" name="Picture 21"/>
          <p:cNvPicPr/>
          <p:nvPr/>
        </p:nvPicPr>
        <p:blipFill>
          <a:blip r:embed="rId1"/>
          <a:srcRect l="0" t="0" r="53140" b="0"/>
          <a:stretch/>
        </p:blipFill>
        <p:spPr>
          <a:xfrm>
            <a:off x="10480320" y="1617480"/>
            <a:ext cx="1347120" cy="181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Picture 23"/>
          <p:cNvPicPr/>
          <p:nvPr/>
        </p:nvPicPr>
        <p:blipFill>
          <a:blip r:embed="rId2"/>
          <a:srcRect l="48932" t="0" r="0" b="0"/>
          <a:stretch/>
        </p:blipFill>
        <p:spPr>
          <a:xfrm>
            <a:off x="10387800" y="4212000"/>
            <a:ext cx="1439280" cy="185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Picture 24"/>
          <p:cNvPicPr/>
          <p:nvPr/>
        </p:nvPicPr>
        <p:blipFill>
          <a:blip r:embed="rId3"/>
          <a:stretch/>
        </p:blipFill>
        <p:spPr>
          <a:xfrm>
            <a:off x="519480" y="2515320"/>
            <a:ext cx="6701760" cy="243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15440" y="298800"/>
            <a:ext cx="11358720" cy="7614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5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Roboto"/>
              </a:rPr>
              <a:t>Nội soi: ruột có sạch không?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cxnSp>
        <p:nvCxnSpPr>
          <p:cNvPr id="212" name="Google Shape;69;p 3"/>
          <p:cNvCxnSpPr/>
          <p:nvPr/>
        </p:nvCxnSpPr>
        <p:spPr>
          <a:xfrm>
            <a:off x="583200" y="1264320"/>
            <a:ext cx="6982920" cy="2160"/>
          </a:xfrm>
          <a:prstGeom prst="straightConnector1">
            <a:avLst/>
          </a:prstGeom>
          <a:ln w="9525">
            <a:solidFill>
              <a:srgbClr val="44546A"/>
            </a:solidFill>
            <a:round/>
          </a:ln>
        </p:spPr>
      </p:cxnSp>
      <p:pic>
        <p:nvPicPr>
          <p:cNvPr id="213" name=""/>
          <p:cNvPicPr/>
          <p:nvPr/>
        </p:nvPicPr>
        <p:blipFill>
          <a:blip r:embed="rId1"/>
          <a:stretch/>
        </p:blipFill>
        <p:spPr>
          <a:xfrm>
            <a:off x="3951360" y="1371600"/>
            <a:ext cx="8026200" cy="526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"/>
          <p:cNvPicPr/>
          <p:nvPr/>
        </p:nvPicPr>
        <p:blipFill>
          <a:blip r:embed="rId2"/>
          <a:stretch/>
        </p:blipFill>
        <p:spPr>
          <a:xfrm>
            <a:off x="228600" y="1828800"/>
            <a:ext cx="3481200" cy="457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Picture 14" descr="May be an image of text"/>
          <p:cNvPicPr/>
          <p:nvPr/>
        </p:nvPicPr>
        <p:blipFill>
          <a:blip r:embed="rId1"/>
          <a:stretch/>
        </p:blipFill>
        <p:spPr>
          <a:xfrm>
            <a:off x="328680" y="236160"/>
            <a:ext cx="11419920" cy="642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798480" y="1804320"/>
            <a:ext cx="1082844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vi-VN" sz="6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Xin chân thành cảm ơn</a:t>
            </a:r>
            <a:br>
              <a:rPr sz="6600"/>
            </a:br>
            <a:r>
              <a:rPr lang="en-GB" sz="6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sự lắng nghe của quý phụ huynh và các tân sinh viên</a:t>
            </a:r>
            <a:r>
              <a:rPr lang="vi-VN" sz="6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!</a:t>
            </a:r>
            <a:endParaRPr lang="en-US" sz="6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1451880" y="4538160"/>
            <a:ext cx="9141840" cy="1653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Luu Phuc Loi, PhD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Times New Roman"/>
                <a:hlinkClick r:id="rId1"/>
              </a:rPr>
              <a:t>luu.p.loi@googlemail.com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Phone/Zalo: 0901802182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"/>
          <p:cNvPicPr/>
          <p:nvPr/>
        </p:nvPicPr>
        <p:blipFill>
          <a:blip r:embed="rId2"/>
          <a:stretch/>
        </p:blipFill>
        <p:spPr>
          <a:xfrm>
            <a:off x="228600" y="120600"/>
            <a:ext cx="1369800" cy="136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"/>
          <p:cNvPicPr/>
          <p:nvPr/>
        </p:nvPicPr>
        <p:blipFill>
          <a:blip r:embed="rId3"/>
          <a:srcRect l="17515" t="16570" r="19148" b="16760"/>
          <a:stretch/>
        </p:blipFill>
        <p:spPr>
          <a:xfrm>
            <a:off x="10395000" y="85680"/>
            <a:ext cx="1598400" cy="168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21103</TotalTime>
  <Application>LibreOffice/26.2.5.2$Linux_X86_64 LibreOffice_project/6d2b0d33fb0f5da53a12f98bed3e9973e56ff1f0</Application>
  <AppVersion>15.0000</AppVersion>
  <Words>2352</Words>
  <Paragraphs>300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2024-10-05T03:34:02Z</dcterms:created>
  <dc:creator>Lưu Phúc Lợi</dc:creator>
  <dc:description/>
  <dc:language>en-US</dc:language>
  <cp:lastModifiedBy/>
  <cp:lastPrinted>2026-09-27T10:43:58Z</cp:lastPrinted>
  <dcterms:modified xsi:type="dcterms:W3CDTF">2026-09-27T10:44:50Z</dcterms:modified>
  <cp:revision>322</cp:revision>
  <dc:subject/>
  <dc:title>Khoa Học Dữ Liệu Y Sinh Góc nhìn Đa Ngành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68</vt:i4>
  </property>
</Properties>
</file>