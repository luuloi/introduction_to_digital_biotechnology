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695" autoAdjust="0"/>
    <p:restoredTop sz="94660"/>
  </p:normalViewPr>
  <p:slideViewPr>
    <p:cSldViewPr snapToGrid="0">
      <p:cViewPr varScale="1">
        <p:scale>
          <a:sx n="86" d="100"/>
          <a:sy n="86" d="100"/>
        </p:scale>
        <p:origin x="91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0831F-45BD-425E-B0BD-7D7A4C9D4C4D}"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76197C-E15A-4BDB-A9AD-249DD317C8AD}" type="slidenum">
              <a:rPr lang="en-US" smtClean="0"/>
              <a:t>‹#›</a:t>
            </a:fld>
            <a:endParaRPr lang="en-US"/>
          </a:p>
        </p:txBody>
      </p:sp>
    </p:spTree>
    <p:extLst>
      <p:ext uri="{BB962C8B-B14F-4D97-AF65-F5344CB8AC3E}">
        <p14:creationId xmlns:p14="http://schemas.microsoft.com/office/powerpoint/2010/main" val="3166232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Hội đồng, em là Dương Tấn Phát, học viên cao học ngành Di truyền học khóa 32. Em xin trình bày luận văn: Đánh giá và xây dựng quy trình tin sinh học xét nghiệm NIPT trên nền tảng giải trình tự Ion Torrent, dưới sự hướng dẫn của TS. Lưu Phúc Lợi và PGS.TS. Nguyễn Minh Nam.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881571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bốn phần: đặt vấn đề và mục tiêu nghiên cứu; phương pháp nghiên cứu; các kết quả chính; và cuối cùng là kết luận cùng kiến nghị.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69099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vào đặt vấn đề, em xin nhắc lại cơ sở sinh học của NIPT. Trisomy phát sinh chủ yếu do không phân ly nhiễm sắc thể trong giảm phân: giao tử mang thừa một nhiễm sắc thể, khi thụ tinh với giao tử bình thường sẽ tạo hợp tử có ba bản sao. Ba trisomy thường gặp ở trẻ sinh sống là T21, T18 và T13, nguy cơ tăng theo tuổi mẹ. Trong huyết tương thai phụ có các đoạn DNA tự do, phần lớn có nguồn gốc từ tế bào máu của mẹ, dài khoảng 166 cặp base; một phần nhỏ, khoảng 10 phần trăm, xuất phát từ nguyên bào nuôi của nhau thai và ngắn hơn, khoảng 143 cặp base. Tỉ lệ này gọi là fetal fraction. Vì cfDNA thai thực chất là DNA nhau thai, khảm giới hạn bánh nhau là một nguyên nhân dương tính giả mà em sẽ đề cập ở phần kết quả.</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07442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NIPT gồm hai phần. Ở wet lab, máu mẹ được thu từ tuần thai thứ 10, ly tâm hai bước để tách huyết tương, tách chiết cfDNA, tạo thư viện và giải trình tự; nghiên cứu này sử dụng nền tảng Ion Torrent. Dữ liệu thô sau đó đi vào dry lab: reads được gióng hàng lên hệ gen tham chiếu, lọc giữ lại unique reads, rồi đếm reads theo từng cửa sổ, gọi là binning. Song song, fetal fraction được ước tính để biết tỉ lệ cfDNA thai. Số đếm của mẫu được chuẩn hóa GC và so với bộ tham chiếu âm tính để tính z-score cho từng nhiễm sắc thể đích, cuối cùng phân loại nguy cơ cao hoặc thấp. Nguyên lý cốt lõi là thai trisomy chỉ làm tỉ lệ reads của nhiễm sắc thể đích tăng khoảng một nửa fetal fraction, nên việc đếm reads phải được so sánh với một nền tham chiếu ổn định.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82532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cuối của dry lab là phân loại. Với mỗi nhiễm sắc thể đích, tỉ lệ reads của mẫu sau chuẩn hóa được so với phân phối của bộ tham chiếu âm tính: z bằng x trừ trung bình tham chiếu, chia độ lệch chuẩn tham chiếu. Nếu bộ tham chiếu phân phối chuẩn, các mẫu âm tính tập trung quanh 0; ngưỡng cut-off thông dụng là z bằng 3. Mẫu có z từ 3 trở lên được xếp nguy cơ cao và chỉ định chẩn đoán xâm lấn; dưới 3 là nguy cơ thấp. Mức độ tách biệt của mẫu trisomy khỏi phân phối âm tính phụ thuộc vào fetal fraction và số unique reads — đây là hai yếu tố em đánh giá ở phần giới hạn phát hiện.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01996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NIPT hiện là phương pháp sàng lọc trước sinh được khuyến nghị cho ba trisomy thường gặp. Tại Việt Nam, xét nghiệm đã triển khai rộng nhưng hầu hết phụ thuộc kit và phần mềm phân tích thương mại nguồn đóng, được xây dựng trên quần thể nước ngoài. Trong khi đó, nền tảng Ion Torrent có đặc điểm dữ liệu riêng: read single-end, chiều dài biến thiên, lỗi homopolymer; còn phần lớn công cụ nguồn mở lại được tối ưu cho Illumina. Đó là khoảng trống mà luận văn hướng tới.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25938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có ba mục tiêu: xây dựng bộ dữ liệu tham chiếu âm tính của thai phụ Việt Nam; lựa chọn các công cụ nguồn mở tối ưu cho dữ liệu Ion Torrent ở từng bước phân tích; và tích hợp chúng thành một quy trình hoàn chỉnh. Ngoài ra nghiên cứu xác định giới hạn phát hiện trên dữ liệu mô phỏng và thẩm định quy trình trên mẫu thực tế.</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63806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phương pháp, hồi cứu, thực hiện tại Bệnh viện Quốc tế Phương Châu từ 7/2025 đến 7/2026, trên dữ liệu giải trình tự đã có, không thu thập mẫu sinh học mới. Cỡ mẫu tối thiểu theo thiết kế so sánh cặp là 784; thực tế đưa vào 1156 mẫu đạt tiêu chuẩn, chia thành ba tập độc lập hoàn toàn. Trong 26 mẫu dương tính theo CapitalBio, chỉ 15 mẫu có chuẩn vàng dịch ối — đây là lý do cần bổ sung dữ liệu mô phỏng.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94291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tổng thể của nghiên cứu. Nửa thượng nguồn: dữ liệu UBAM được chuyển sang FASTQ rồi tạo ba bộ dữ liệu song song Raw, F50 và F50T15; ba công cụ gióng hàng được đánh giá chéo trên cả ba bộ, tổng cộng 1800 lượt gióng hàng trên 200 mẫu, để chốt mapper. Nửa hạ nguồn: từ dữ liệu BAM, bộ tham chiếu âm tính 500 mẫu lưỡng bội được xây dựng với bin 1 Mbp, làm nền để benchmark ba công cụ fetal fraction và hai công cụ phát hiện lệch bội, ngưỡng so sánh z ≥ 3. Các lựa chọn tối ưu được tích hợp thành pipeline NIPTorrent, phán định bằng ngưỡng thực nghiệm Ze từ 3,47 đến 3,86, sau đó đánh giá giới hạn phát hiện trên 720 mẫu mô phỏng và thẩm định trên 456 mẫu thực tế.</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8731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z-score, nghiên cứu bổ sung một tầng xác nhận kết quả bằng bốn chỉ số kiểm soát toàn hệ gen, dựa theo khung phương pháp của Bayindir và cộng sự năm 2015. Lý do là một z-score cao có thể phát sinh không chỉ từ lệch bội thật, mà còn từ biến thể số bản sao cục bộ nguồn gốc mẹ, từ nhiễu nền toàn hệ gen, hoặc từ một tín hiệu bất thường đồng thời ở nhiễm sắc thể khác trong cùng mẫu. Bốn chỉ số gồm: z-score ở mức toàn nhiễm sắc thể giữ vai trò quyết định với ngưỡng Ze; zz-score chuẩn hóa z-score mục tiêu theo nền nội mẫu, kiểm soát nhiễu toàn hệ gen, ngưỡng Zm cũng tính tại phân vị 99,99 phần trăm; BM là trung vị z-score mức bin trong nhiễm sắc thể mục tiêu, cho biết tín hiệu có trải đều hay chỉ khu trú; và OM là trung vị trị tuyệt đối z-score mức bin của các nhiễm sắc thể còn lại, phản ánh mức nhiễu nền. Vì z-score mức bin của quy trình không có phương sai đơn vị, BM và OM không dùng ngưỡng tuyệt đối của nghiên cứu gốc mà đối chiếu với phân bố nền của chính bộ tham chiếu 500 mẫu. Bốn chỉ số được tính đồng thời cho mọi mẫu, từ cùng dữ liệu bin 1 Mbp và cùng bộ tham chiếu, bảo đảm nhất quán nội tại.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57740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đầu tiên là bộ tham chiếu âm tính. Năm trăm mẫu được đưa vào đều đáp ứng đủ bốn tiêu chuẩn bổ sung: NIPT âm tính cả ba trisomy, không nhiễm sắc thể nào có z-score từ 3 trở lên; độ mờ da gáy dưới 2,5 mm; siêu âm hình thái 4D từ tuần 20 không phát hiện bất thường; và đã có kết quả NIPT trên một năm mà không ghi nhận âm tính giả. Bốn tiêu chí này củng cố giả định âm tính, đồng thời cung cấp bằng chứng lâm sàng độc lập với quy trình thương mại. Toàn bộ 500 mẫu được gióng hàng bằng BWA-MEM trên cả ba bộ Raw, F50 và F50T15, tạo ba bộ tham chiếu. Khi đối chiếu phân phối z-score của bộ tham chiếu với phân phối chuẩn tắc, trên 9 tổ hợp nhiễm sắc thể và bộ dữ liệu: WisecondorX đạt dạng chuẩn ở cả 9 tổ hợp nhưng trung bình dịch nhẹ về âm; NIPTeR ngược lại đạt trung bình bằng 0 nhưng lệch phải, đuôi nặng, rõ nhất ở nhiễm sắc thể 18. Không công cụ nào đạt đủ cả ba yêu cầu hình dạng, vị trí và thang đo — đây là lý do ngưỡng phán định được xác định thực nghiệm từ chính bộ tham chiếu thay vì dùng ngưỡng lý thuyết z bằng 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504155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công cụ gióng hàng được chạy trên 200 mẫu qua ba bộ tiền xử lý, tổng 1800 lượt gióng hàng. Bảng trình bày kết quả ở bộ F50T15. BWA-MEM cho số read chất lượng cao lớn nhất, hiệu suất chuyển hóa dữ liệu cao nhất 89,75%, tỉ lệ bắt cặp sai thấp nhất và ổn định nhất giữa các mẫu. TMAP gióng hàng được nhiều read hơn nhưng tỉ lệ read đạt chất lượng cao lại thấp hơn 5 đến 8 điểm phần trăm. Do đó BWA-MEM được chọn.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82551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công cụ ước tính fetal fraction được đánh giá trên 200 mẫu, 103 thai nam và 97 thai nữ, lấy giá trị CapitalBio làm mốc đối chiếu. DEFRAG-B tương quan rất cao nhưng chỉ dùng được cho thai nam. SeqFF dùng được cho cả hai giới nhưng chỉ đạt hiệu năng chấp nhận được ở thai nữ. SANEFALCON bị loại khỏi cơ sở lựa chọn vì giá trị đầu ra không độc lập với CapitalBio. Vì vậy nghiên cứu dùng song song hai công cụ theo giới tính thai.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1174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khác biệt căn bản nhất của nghiên cứu. WisecondorX tương quan rất cao với CapitalBio, R từ 0,92 đến 0,98, và phát hiện đúng toàn bộ ca dương tính đã xác nhận bằng chuẩn vàng. NIPTeR gần như không tương quan và bỏ sót toàn bộ ca dương, dù các ca này có fetal fraction cao và tín hiệu rất mạnh. Nguyên nhân nhất quán với phân phối z-score tham chiếu của NIPTeR: độ lệch chuẩn thu hẹp còn 0,81 đến 0,95 và đuôi nặng, tức z-score bị nén ngay từ nền dữ liệu. Bộ F50T15 cho độ đặc hiệu cao nhất nên được chọn.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55393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Cố định các lựa chọn ở trên, quy trình hoàn chỉnh được đặt tên NIPTorrent: chuyển UBAM sang FASTQ, tiền xử lý F50T15, gióng hàng BWA-MEM trên GRCh37, ước tính fetal fraction bằng DEFRAG-B cho thai nam và SeqFF cho thai nữ, phát hiện lệch bội bằng WisecondorX với bin 1 Mbp trên bộ tham chiếu 500 mẫu. Ngưỡng phán định là ngưỡng thực nghiệm Ze riêng cho từng nhiễm sắc thể, xác định từ trung bình và độ lệch chuẩn của phân phối nền tại phân vị 99,99%.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631748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hạn phát hiện được đánh giá trên 720 mẫu mô phỏng, ba mức fetal fraction và ba mức unique reads, mỗi tổ hợp 10 mẫu lặp. Quy trình không tạo dương tính giả nào trên toàn bộ mẫu bình thường. Ở nhóm thai nữ theo thang SeqFF, trisomy 13 và 18 được phát hiện đầy đủ trên toàn vùng khảo sát; riêng trisomy 21 ở fetal fraction 3% cần 5 triệu unique reads. Ở nhóm thai nam theo thang DEFRAG-B, cần fetal fraction từ 4% và unique reads từ 3 triệu. Lưu ý fetal fraction hai nhóm đo trên hai thang khác nhau nên không so sánh trực tiếp.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830538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Thẩm định trên 456 mẫu độc lập, sau khi loại 6 ca nguy cơ cao chưa có chẩn đoán dịch ối còn 450 mẫu. Quy trình phát hiện đúng toàn bộ 4 ca dương xác nhận, độ nhạy và NPV 100%, kể cả một ca trisomy 21 có fetal fraction chỉ 4,3% với z-score 8,92. Không có dương tính giả ở T21 và T18; hai dương tính giả duy nhất nằm ở nhiễm sắc thể 13. Gộp tập đánh giá và thẩm định, 656 mẫu, NIPTorrent đạt độ đặc hiệu 99,79% và PPV 69,23%, cao hơn CapitalBio. Toàn bộ 17 ca song thai được phân loại đúng âm tính.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514992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chỉ số được áp dụng cho toàn bộ 656 mẫu ở ba nhiễm sắc thể đích và mở rộng cho các nhiễm sắc thể còn lại. Z-score, zz-score và BM khác biệt có ý nghĩa giữa các nhóm với Kruskal–Wallis p nhỏ hơn 0,001, trong khi OM không khác biệt, p bằng 0,31 — nghĩa là không nhóm dương tính nào kèm nhiễu nền toàn hệ gen. Về đồng thuận bốn chỉ số: toàn bộ 3 mẫu dương tính giả có chọc ối âm và 11 mẫu chưa xác nhận đều đạt 4 trên 4, cùng 8 trong 9 mẫu dương tính thật. Mẫu dương tính thật duy nhất không đạt có zz-score 3,0 dưới ngưỡng 3,40, vì đồng thời mang trisomy nhiễm sắc thể 8 làm độ lệch chuẩn nền nội mẫu tăng từ 1,22 lên 3,06 và nén zz-score xuống, trong khi z-score và BM vẫn vượt ngưỡng. Đáng chú ý nhất là mẫu dương tính giả kỹ thuật riêng của NIPTorrent: BM chỉ 0,278 dưới ngưỡng nền 0,455; chỉ 2 trong 96 bin có z-score từ 3 trở lên và 59,4 phần trăm bin lệch dương, so với mẫu trisomy 13 thật là 97 phần trăm bin lệch dương — chứng tỏ tín hiệu khu trú chứ không trải đều. Ngoài ra, 11 ca lệch bội ở nhiễm sắc thể ngoài đích cũng được phân tầng: 8 ca tín hiệu trải đều, 3 ca không trải đều.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58233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phân tích riêng ca dương tính giả kỹ thuật bằng chỉ số BM. Biểu đồ so sánh z-score mức bin dọc nhiễm sắc thể 13 ở ba mẫu. Trên cùng là một mẫu âm tính đối chiếu: z-score toàn nhiễm sắc thể 1,50, 56 phần trăm bin lệch dương, chỉ 3 phần trăm bin vượt ngưỡng, BM 0,21 dưới ngưỡng nền 0,45. Ở giữa là mẫu dương tính giả kỹ thuật 24PC1273: z-score toàn nhiễm sắc thể đạt 3,80 tức vượt ngưỡng, nhưng phân bố mức bin gần như không khác mẫu âm tính — 59 phần trăm bin lệch dương, chỉ 9 phần trăm bin vượt ngưỡng, BM 0,28 vẫn dưới ngưỡng nền. Dưới cùng là một ca trisomy 13 thật: z-score 18,78, 97 phần trăm bin lệch dương, 51 phần trăm bin vượt ngưỡng, BM 2,23 vượt xa ngưỡng nền. Như vậy tín hiệu ở mẫu dương tính giả kỹ thuật không trải đều toàn nhiễm sắc thể mà chỉ do một vài bin nhiễu đẩy z-score tổng hợp lên; BM phát hiện được điều này còn z-score đơn lẻ thì không. Đây chính là giá trị bổ sung của chỉ số mức bin trong kiểm soát kết quả.</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57552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kết luận tương ứng ba mục tiêu nghiên cứu. Thứ nhất, đã xây dựng bộ tham chiếu âm tính gồm 500 mẫu thai phụ Việt Nam đạt đủ bốn tiêu chuẩn bổ sung, làm nền chuẩn hóa đặc thù cho dữ liệu Ion Torrent và là cơ sở xác định ngưỡng thực nghiệm Ze. Thứ hai, đã lựa chọn được công cụ nguồn mở tối ưu cho từng bước: tiền xử lý F50T15, gióng hàng BWA-MEM, ước tính fetal fraction bằng DEFRAG-B cho thai nam và SeqFF cho thai nữ, phát hiện lệch bội bằng WisecondorX. Thứ ba, các công cụ đã được tích hợp thành quy trình NIPTorrent hoàn chỉnh: phát hiện đầy đủ ba trisomy khi fetal fraction từ 4 phần trăm và unique reads từ 3 triệu; trên tập thẩm định đạt độ nhạy 100 phần trăm, NPV 100 phần trăm, độ đặc hiệu 99,79 phần trăm và PPV 69,23 phần trăm, cao hơn CapitalBio, không dương tính giả ở T21 và T18; bộ bốn chỉ số toàn hệ gen bổ sung tầng hậu kiểm, trong đó BM tách được dương tính giả kỹ thuật khỏi lệch bội thật.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190711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chân thành cảm ơn quý thầy cô trong Hội đồng đã lắng nghe, cảm ơn TS. Lưu Phúc Lợi và PGS.TS. Nguyễn Minh Nam đã hướng dẫn, cùng Ban lãnh đạo Bệnh viện Quốc tế Phương Châu đã tạo điều kiện và cung cấp dữ liệu. Em xin lắng nghe ý kiến đóng góp của Hội đồng.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901249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BE3C65-1517-46FF-BCD2-5AD1BEC32FED}"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1234986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BE3C65-1517-46FF-BCD2-5AD1BEC32FED}"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332490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BE3C65-1517-46FF-BCD2-5AD1BEC32FED}"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4259044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1BE3C65-1517-46FF-BCD2-5AD1BEC32FED}"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2844305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1BE3C65-1517-46FF-BCD2-5AD1BEC32FED}"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128206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1BE3C65-1517-46FF-BCD2-5AD1BEC32FED}"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333182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E3C65-1517-46FF-BCD2-5AD1BEC32FED}"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1127415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BE3C65-1517-46FF-BCD2-5AD1BEC32FED}"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2210760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BE3C65-1517-46FF-BCD2-5AD1BEC32FED}"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3245609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BE3C65-1517-46FF-BCD2-5AD1BEC32FED}"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182124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BE3C65-1517-46FF-BCD2-5AD1BEC32FED}"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2D757-584E-49AE-B5C6-38CBE1174CEA}" type="slidenum">
              <a:rPr lang="en-US" smtClean="0"/>
              <a:t>‹#›</a:t>
            </a:fld>
            <a:endParaRPr lang="en-US"/>
          </a:p>
        </p:txBody>
      </p:sp>
    </p:spTree>
    <p:extLst>
      <p:ext uri="{BB962C8B-B14F-4D97-AF65-F5344CB8AC3E}">
        <p14:creationId xmlns:p14="http://schemas.microsoft.com/office/powerpoint/2010/main" val="3249437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068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E3C65-1517-46FF-BCD2-5AD1BEC32FED}" type="datetimeFigureOut">
              <a:rPr lang="en-US" smtClean="0"/>
              <a:t>9/25/2026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12D757-584E-49AE-B5C6-38CBE1174CEA}" type="slidenum">
              <a:rPr lang="en-US" smtClean="0"/>
              <a:t>‹#›</a:t>
            </a:fld>
            <a:endParaRPr lang="en-US"/>
          </a:p>
        </p:txBody>
      </p:sp>
    </p:spTree>
    <p:extLst>
      <p:ext uri="{BB962C8B-B14F-4D97-AF65-F5344CB8AC3E}">
        <p14:creationId xmlns:p14="http://schemas.microsoft.com/office/powerpoint/2010/main" val="1126189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8739015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8618741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26142" y="2151618"/>
            <a:ext cx="5166611" cy="3097730"/>
          </a:xfrm>
          <a:prstGeom prst="rect">
            <a:avLst/>
          </a:prstGeom>
        </p:spPr>
      </p:pic>
    </p:spTree>
    <p:extLst>
      <p:ext uri="{BB962C8B-B14F-4D97-AF65-F5344CB8AC3E}">
        <p14:creationId xmlns:p14="http://schemas.microsoft.com/office/powerpoint/2010/main" val="30974886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4637279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883333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7930147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33940815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37152622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7367345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22334351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244417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30591180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33501650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5271869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
        <p:nvSpPr>
          <p:cNvPr id="6" name="Curved Down Arrow 5"/>
          <p:cNvSpPr/>
          <p:nvPr/>
        </p:nvSpPr>
        <p:spPr>
          <a:xfrm>
            <a:off x="2519082" y="1210235"/>
            <a:ext cx="493059" cy="188259"/>
          </a:xfrm>
          <a:prstGeom prst="curved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200">
              <a:solidFill>
                <a:schemeClr val="tx1"/>
              </a:solidFill>
            </a:endParaRPr>
          </a:p>
        </p:txBody>
      </p:sp>
      <p:sp>
        <p:nvSpPr>
          <p:cNvPr id="7" name="Curved Down Arrow 6"/>
          <p:cNvSpPr/>
          <p:nvPr/>
        </p:nvSpPr>
        <p:spPr>
          <a:xfrm>
            <a:off x="4727388" y="1210235"/>
            <a:ext cx="493059" cy="188259"/>
          </a:xfrm>
          <a:prstGeom prst="curved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200">
              <a:solidFill>
                <a:schemeClr val="tx1"/>
              </a:solidFill>
            </a:endParaRPr>
          </a:p>
        </p:txBody>
      </p:sp>
      <p:sp>
        <p:nvSpPr>
          <p:cNvPr id="8" name="Curved Down Arrow 7"/>
          <p:cNvSpPr/>
          <p:nvPr/>
        </p:nvSpPr>
        <p:spPr>
          <a:xfrm>
            <a:off x="6958853" y="1208741"/>
            <a:ext cx="493059" cy="188259"/>
          </a:xfrm>
          <a:prstGeom prst="curved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200">
              <a:solidFill>
                <a:schemeClr val="tx1"/>
              </a:solidFill>
            </a:endParaRPr>
          </a:p>
        </p:txBody>
      </p:sp>
      <p:sp>
        <p:nvSpPr>
          <p:cNvPr id="9" name="Curved Down Arrow 8"/>
          <p:cNvSpPr/>
          <p:nvPr/>
        </p:nvSpPr>
        <p:spPr>
          <a:xfrm>
            <a:off x="9137650" y="1210235"/>
            <a:ext cx="493059" cy="188259"/>
          </a:xfrm>
          <a:prstGeom prst="curved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7190750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29508191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393575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
        <p:nvSpPr>
          <p:cNvPr id="7" name="TextBox 6"/>
          <p:cNvSpPr txBox="1"/>
          <p:nvPr/>
        </p:nvSpPr>
        <p:spPr>
          <a:xfrm>
            <a:off x="2411506" y="2024244"/>
            <a:ext cx="383438" cy="215444"/>
          </a:xfrm>
          <a:prstGeom prst="rect">
            <a:avLst/>
          </a:prstGeom>
          <a:noFill/>
        </p:spPr>
        <p:txBody>
          <a:bodyPr wrap="none" rtlCol="0">
            <a:spAutoFit/>
          </a:bodyPr>
          <a:lstStyle/>
          <a:p>
            <a:r>
              <a:rPr lang="en-US" sz="800" b="1" dirty="0">
                <a:solidFill>
                  <a:srgbClr val="FFCD2F"/>
                </a:solidFill>
              </a:rPr>
              <a:t>CPM</a:t>
            </a:r>
            <a:endParaRPr lang="en-US" sz="800" b="1" dirty="0">
              <a:solidFill>
                <a:srgbClr val="FFCD2F"/>
              </a:solidFill>
            </a:endParaRPr>
          </a:p>
        </p:txBody>
      </p:sp>
      <p:sp>
        <p:nvSpPr>
          <p:cNvPr id="11" name="TextBox 10"/>
          <p:cNvSpPr txBox="1"/>
          <p:nvPr/>
        </p:nvSpPr>
        <p:spPr>
          <a:xfrm>
            <a:off x="4592918" y="2125844"/>
            <a:ext cx="383438" cy="215444"/>
          </a:xfrm>
          <a:prstGeom prst="rect">
            <a:avLst/>
          </a:prstGeom>
          <a:noFill/>
        </p:spPr>
        <p:txBody>
          <a:bodyPr wrap="none" rtlCol="0">
            <a:spAutoFit/>
          </a:bodyPr>
          <a:lstStyle/>
          <a:p>
            <a:r>
              <a:rPr lang="en-US" sz="800" b="1" dirty="0">
                <a:solidFill>
                  <a:srgbClr val="FFCD2F"/>
                </a:solidFill>
              </a:rPr>
              <a:t>CPM</a:t>
            </a:r>
            <a:endParaRPr lang="en-US" sz="800" b="1" dirty="0">
              <a:solidFill>
                <a:srgbClr val="FFCD2F"/>
              </a:solidFill>
            </a:endParaRPr>
          </a:p>
        </p:txBody>
      </p:sp>
      <p:sp>
        <p:nvSpPr>
          <p:cNvPr id="12" name="TextBox 11"/>
          <p:cNvSpPr txBox="1"/>
          <p:nvPr/>
        </p:nvSpPr>
        <p:spPr>
          <a:xfrm>
            <a:off x="6774329" y="2310510"/>
            <a:ext cx="383438" cy="215444"/>
          </a:xfrm>
          <a:prstGeom prst="rect">
            <a:avLst/>
          </a:prstGeom>
          <a:noFill/>
        </p:spPr>
        <p:txBody>
          <a:bodyPr wrap="none" rtlCol="0">
            <a:spAutoFit/>
          </a:bodyPr>
          <a:lstStyle/>
          <a:p>
            <a:r>
              <a:rPr lang="en-US" sz="800" b="1" dirty="0">
                <a:solidFill>
                  <a:srgbClr val="FFCD2F"/>
                </a:solidFill>
              </a:rPr>
              <a:t>CPM</a:t>
            </a:r>
            <a:endParaRPr lang="en-US" sz="800" b="1" dirty="0">
              <a:solidFill>
                <a:srgbClr val="FFCD2F"/>
              </a:solidFill>
            </a:endParaRPr>
          </a:p>
        </p:txBody>
      </p:sp>
      <p:sp>
        <p:nvSpPr>
          <p:cNvPr id="13" name="TextBox 12"/>
          <p:cNvSpPr txBox="1"/>
          <p:nvPr/>
        </p:nvSpPr>
        <p:spPr>
          <a:xfrm>
            <a:off x="9124029" y="1926840"/>
            <a:ext cx="383438" cy="215444"/>
          </a:xfrm>
          <a:prstGeom prst="rect">
            <a:avLst/>
          </a:prstGeom>
          <a:noFill/>
        </p:spPr>
        <p:txBody>
          <a:bodyPr wrap="none" rtlCol="0">
            <a:spAutoFit/>
          </a:bodyPr>
          <a:lstStyle/>
          <a:p>
            <a:r>
              <a:rPr lang="en-US" sz="800" b="1" dirty="0">
                <a:solidFill>
                  <a:srgbClr val="FFCD2F"/>
                </a:solidFill>
              </a:rPr>
              <a:t>CPM</a:t>
            </a:r>
            <a:endParaRPr lang="en-US" sz="800" b="1" dirty="0">
              <a:solidFill>
                <a:srgbClr val="FFCD2F"/>
              </a:solidFill>
            </a:endParaRPr>
          </a:p>
        </p:txBody>
      </p:sp>
      <p:sp>
        <p:nvSpPr>
          <p:cNvPr id="14" name="TextBox 13"/>
          <p:cNvSpPr txBox="1"/>
          <p:nvPr/>
        </p:nvSpPr>
        <p:spPr>
          <a:xfrm>
            <a:off x="2839845" y="2460844"/>
            <a:ext cx="285656" cy="215444"/>
          </a:xfrm>
          <a:prstGeom prst="rect">
            <a:avLst/>
          </a:prstGeom>
          <a:noFill/>
        </p:spPr>
        <p:txBody>
          <a:bodyPr wrap="none" rtlCol="0">
            <a:spAutoFit/>
          </a:bodyPr>
          <a:lstStyle/>
          <a:p>
            <a:r>
              <a:rPr lang="en-US" sz="800" b="1" dirty="0">
                <a:solidFill>
                  <a:srgbClr val="FF7575"/>
                </a:solidFill>
              </a:rPr>
              <a:t>FP</a:t>
            </a:r>
            <a:endParaRPr lang="en-US" sz="800" b="1" dirty="0">
              <a:solidFill>
                <a:srgbClr val="FF7575"/>
              </a:solidFill>
            </a:endParaRPr>
          </a:p>
        </p:txBody>
      </p:sp>
      <p:sp>
        <p:nvSpPr>
          <p:cNvPr id="16" name="TextBox 15"/>
          <p:cNvSpPr txBox="1"/>
          <p:nvPr/>
        </p:nvSpPr>
        <p:spPr>
          <a:xfrm>
            <a:off x="5039186" y="2530305"/>
            <a:ext cx="285656" cy="215444"/>
          </a:xfrm>
          <a:prstGeom prst="rect">
            <a:avLst/>
          </a:prstGeom>
          <a:noFill/>
        </p:spPr>
        <p:txBody>
          <a:bodyPr wrap="none" rtlCol="0">
            <a:spAutoFit/>
          </a:bodyPr>
          <a:lstStyle/>
          <a:p>
            <a:r>
              <a:rPr lang="en-US" sz="800" b="1" dirty="0">
                <a:solidFill>
                  <a:srgbClr val="FF7575"/>
                </a:solidFill>
              </a:rPr>
              <a:t>FP</a:t>
            </a:r>
            <a:endParaRPr lang="en-US" sz="800" b="1" dirty="0">
              <a:solidFill>
                <a:srgbClr val="FF7575"/>
              </a:solidFill>
            </a:endParaRPr>
          </a:p>
        </p:txBody>
      </p:sp>
      <p:sp>
        <p:nvSpPr>
          <p:cNvPr id="17" name="TextBox 16"/>
          <p:cNvSpPr txBox="1"/>
          <p:nvPr/>
        </p:nvSpPr>
        <p:spPr>
          <a:xfrm>
            <a:off x="7237078" y="2692043"/>
            <a:ext cx="285656" cy="215444"/>
          </a:xfrm>
          <a:prstGeom prst="rect">
            <a:avLst/>
          </a:prstGeom>
          <a:noFill/>
        </p:spPr>
        <p:txBody>
          <a:bodyPr wrap="none" rtlCol="0">
            <a:spAutoFit/>
          </a:bodyPr>
          <a:lstStyle/>
          <a:p>
            <a:r>
              <a:rPr lang="en-US" sz="800" b="1" dirty="0">
                <a:solidFill>
                  <a:srgbClr val="FF7575"/>
                </a:solidFill>
              </a:rPr>
              <a:t>FP</a:t>
            </a:r>
            <a:endParaRPr lang="en-US" sz="800" b="1" dirty="0">
              <a:solidFill>
                <a:srgbClr val="FF7575"/>
              </a:solidFill>
            </a:endParaRPr>
          </a:p>
        </p:txBody>
      </p:sp>
      <p:sp>
        <p:nvSpPr>
          <p:cNvPr id="18" name="TextBox 17"/>
          <p:cNvSpPr txBox="1"/>
          <p:nvPr/>
        </p:nvSpPr>
        <p:spPr>
          <a:xfrm>
            <a:off x="9445912" y="2526657"/>
            <a:ext cx="285656" cy="215444"/>
          </a:xfrm>
          <a:prstGeom prst="rect">
            <a:avLst/>
          </a:prstGeom>
          <a:noFill/>
        </p:spPr>
        <p:txBody>
          <a:bodyPr wrap="none" rtlCol="0">
            <a:spAutoFit/>
          </a:bodyPr>
          <a:lstStyle/>
          <a:p>
            <a:r>
              <a:rPr lang="en-US" sz="800" b="1" dirty="0">
                <a:solidFill>
                  <a:srgbClr val="FF7575"/>
                </a:solidFill>
              </a:rPr>
              <a:t>FP</a:t>
            </a:r>
            <a:endParaRPr lang="en-US" sz="800" b="1" dirty="0">
              <a:solidFill>
                <a:srgbClr val="FF7575"/>
              </a:solidFill>
            </a:endParaRPr>
          </a:p>
        </p:txBody>
      </p:sp>
      <p:sp>
        <p:nvSpPr>
          <p:cNvPr id="15" name="TextBox 14"/>
          <p:cNvSpPr txBox="1"/>
          <p:nvPr/>
        </p:nvSpPr>
        <p:spPr>
          <a:xfrm>
            <a:off x="2163483" y="1830342"/>
            <a:ext cx="290464" cy="215444"/>
          </a:xfrm>
          <a:prstGeom prst="rect">
            <a:avLst/>
          </a:prstGeom>
          <a:noFill/>
        </p:spPr>
        <p:txBody>
          <a:bodyPr wrap="none" rtlCol="0">
            <a:spAutoFit/>
          </a:bodyPr>
          <a:lstStyle/>
          <a:p>
            <a:r>
              <a:rPr lang="en-US" sz="800" b="1" dirty="0">
                <a:solidFill>
                  <a:schemeClr val="accent6"/>
                </a:solidFill>
              </a:rPr>
              <a:t>TP</a:t>
            </a:r>
            <a:endParaRPr lang="en-US" sz="800" b="1" dirty="0">
              <a:solidFill>
                <a:schemeClr val="accent6"/>
              </a:solidFill>
            </a:endParaRPr>
          </a:p>
        </p:txBody>
      </p:sp>
      <p:sp>
        <p:nvSpPr>
          <p:cNvPr id="19" name="TextBox 18"/>
          <p:cNvSpPr txBox="1"/>
          <p:nvPr/>
        </p:nvSpPr>
        <p:spPr>
          <a:xfrm>
            <a:off x="4365812" y="1875468"/>
            <a:ext cx="290464" cy="215444"/>
          </a:xfrm>
          <a:prstGeom prst="rect">
            <a:avLst/>
          </a:prstGeom>
          <a:noFill/>
        </p:spPr>
        <p:txBody>
          <a:bodyPr wrap="none" rtlCol="0">
            <a:spAutoFit/>
          </a:bodyPr>
          <a:lstStyle/>
          <a:p>
            <a:r>
              <a:rPr lang="en-US" sz="800" b="1" dirty="0">
                <a:solidFill>
                  <a:schemeClr val="accent6"/>
                </a:solidFill>
              </a:rPr>
              <a:t>TP</a:t>
            </a:r>
            <a:endParaRPr lang="en-US" sz="800" b="1" dirty="0">
              <a:solidFill>
                <a:schemeClr val="accent6"/>
              </a:solidFill>
            </a:endParaRPr>
          </a:p>
        </p:txBody>
      </p:sp>
      <p:sp>
        <p:nvSpPr>
          <p:cNvPr id="20" name="TextBox 19"/>
          <p:cNvSpPr txBox="1"/>
          <p:nvPr/>
        </p:nvSpPr>
        <p:spPr>
          <a:xfrm>
            <a:off x="6529295" y="1828563"/>
            <a:ext cx="290464" cy="215444"/>
          </a:xfrm>
          <a:prstGeom prst="rect">
            <a:avLst/>
          </a:prstGeom>
          <a:noFill/>
        </p:spPr>
        <p:txBody>
          <a:bodyPr wrap="none" rtlCol="0">
            <a:spAutoFit/>
          </a:bodyPr>
          <a:lstStyle/>
          <a:p>
            <a:r>
              <a:rPr lang="en-US" sz="800" b="1" dirty="0">
                <a:solidFill>
                  <a:schemeClr val="accent6"/>
                </a:solidFill>
              </a:rPr>
              <a:t>TP</a:t>
            </a:r>
            <a:endParaRPr lang="en-US" sz="800" b="1" dirty="0">
              <a:solidFill>
                <a:schemeClr val="accent6"/>
              </a:solidFill>
            </a:endParaRPr>
          </a:p>
        </p:txBody>
      </p:sp>
      <p:sp>
        <p:nvSpPr>
          <p:cNvPr id="21" name="TextBox 20"/>
          <p:cNvSpPr txBox="1"/>
          <p:nvPr/>
        </p:nvSpPr>
        <p:spPr>
          <a:xfrm>
            <a:off x="8760605" y="2024244"/>
            <a:ext cx="290464" cy="215444"/>
          </a:xfrm>
          <a:prstGeom prst="rect">
            <a:avLst/>
          </a:prstGeom>
          <a:noFill/>
        </p:spPr>
        <p:txBody>
          <a:bodyPr wrap="none" rtlCol="0">
            <a:spAutoFit/>
          </a:bodyPr>
          <a:lstStyle/>
          <a:p>
            <a:r>
              <a:rPr lang="en-US" sz="800" b="1" dirty="0">
                <a:solidFill>
                  <a:schemeClr val="accent6"/>
                </a:solidFill>
              </a:rPr>
              <a:t>TP</a:t>
            </a:r>
            <a:endParaRPr lang="en-US" sz="800" b="1" dirty="0">
              <a:solidFill>
                <a:schemeClr val="accent6"/>
              </a:solidFill>
            </a:endParaRPr>
          </a:p>
        </p:txBody>
      </p:sp>
    </p:spTree>
    <p:extLst>
      <p:ext uri="{BB962C8B-B14F-4D97-AF65-F5344CB8AC3E}">
        <p14:creationId xmlns:p14="http://schemas.microsoft.com/office/powerpoint/2010/main" val="40371431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
        <p:nvSpPr>
          <p:cNvPr id="6" name="Oval 5"/>
          <p:cNvSpPr/>
          <p:nvPr/>
        </p:nvSpPr>
        <p:spPr>
          <a:xfrm>
            <a:off x="3415553" y="2501153"/>
            <a:ext cx="1165412" cy="188259"/>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24023852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16757697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96000" cy="3429000"/>
          </a:xfrm>
          <a:prstGeom prst="rect">
            <a:avLst/>
          </a:prstGeom>
        </p:spPr>
      </p:pic>
      <p:pic>
        <p:nvPicPr>
          <p:cNvPr id="3" name="Image 1" descr="preencoded.png"/>
          <p:cNvPicPr>
            <a:picLocks noChangeAspect="1"/>
          </p:cNvPicPr>
          <p:nvPr/>
        </p:nvPicPr>
        <p:blipFill>
          <a:blip r:embed="rId4"/>
          <a:stretch>
            <a:fillRect/>
          </a:stretch>
        </p:blipFill>
        <p:spPr>
          <a:xfrm>
            <a:off x="6083300" y="0"/>
            <a:ext cx="6108700" cy="3429000"/>
          </a:xfrm>
          <a:prstGeom prst="rect">
            <a:avLst/>
          </a:prstGeom>
        </p:spPr>
      </p:pic>
      <p:pic>
        <p:nvPicPr>
          <p:cNvPr id="4" name="Image 2" descr="preencoded.png"/>
          <p:cNvPicPr>
            <a:picLocks noChangeAspect="1"/>
          </p:cNvPicPr>
          <p:nvPr/>
        </p:nvPicPr>
        <p:blipFill>
          <a:blip r:embed="rId5"/>
          <a:stretch>
            <a:fillRect/>
          </a:stretch>
        </p:blipFill>
        <p:spPr>
          <a:xfrm>
            <a:off x="0" y="3416300"/>
            <a:ext cx="6096000" cy="3441700"/>
          </a:xfrm>
          <a:prstGeom prst="rect">
            <a:avLst/>
          </a:prstGeom>
        </p:spPr>
      </p:pic>
      <p:pic>
        <p:nvPicPr>
          <p:cNvPr id="5" name="Image 3" descr="preencoded.png"/>
          <p:cNvPicPr>
            <a:picLocks noChangeAspect="1"/>
          </p:cNvPicPr>
          <p:nvPr/>
        </p:nvPicPr>
        <p:blipFill>
          <a:blip r:embed="rId6"/>
          <a:stretch>
            <a:fillRect/>
          </a:stretch>
        </p:blipFill>
        <p:spPr>
          <a:xfrm>
            <a:off x="6083300" y="3416300"/>
            <a:ext cx="6108700" cy="3441700"/>
          </a:xfrm>
          <a:prstGeom prst="rect">
            <a:avLst/>
          </a:prstGeom>
        </p:spPr>
      </p:pic>
    </p:spTree>
    <p:extLst>
      <p:ext uri="{BB962C8B-B14F-4D97-AF65-F5344CB8AC3E}">
        <p14:creationId xmlns:p14="http://schemas.microsoft.com/office/powerpoint/2010/main" val="40870634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3012</Words>
  <Application>Microsoft Office PowerPoint</Application>
  <PresentationFormat>Widescreen</PresentationFormat>
  <Paragraphs>54</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Phát</dc:creator>
  <cp:lastModifiedBy>Phát</cp:lastModifiedBy>
  <cp:revision>1</cp:revision>
  <dcterms:created xsi:type="dcterms:W3CDTF">2026-09-25T11:40:23Z</dcterms:created>
  <dcterms:modified xsi:type="dcterms:W3CDTF">2026-09-25T11:40:47Z</dcterms:modified>
</cp:coreProperties>
</file>